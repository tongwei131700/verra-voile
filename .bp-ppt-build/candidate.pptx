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2f777679514f5a" /><Relationship Type="http://schemas.openxmlformats.org/officeDocument/2006/relationships/extended-properties" Target="/docProps/app.xml" Id="R75bb7b1a31e74501" /><Relationship Type="http://schemas.openxmlformats.org/officeDocument/2006/relationships/officeDocument" Target="/ppt/presentation.xml" Id="R3cfd3c3db55143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7b38181e564236"/>
  </p:sldMasterIdLst>
  <p:notesMasterIdLst>
    <p:notesMasterId xmlns:r="http://schemas.openxmlformats.org/officeDocument/2006/relationships" r:id="Rcf249666288f4cac"/>
  </p:notesMasterIdLst>
  <p:sldIdLst>
    <p:sldId xmlns:r="http://schemas.openxmlformats.org/officeDocument/2006/relationships" id="256" r:id="R00cd91f2c4714823"/>
    <p:sldId xmlns:r="http://schemas.openxmlformats.org/officeDocument/2006/relationships" id="257" r:id="Ra8639eef1aaf4fa3"/>
    <p:sldId xmlns:r="http://schemas.openxmlformats.org/officeDocument/2006/relationships" id="258" r:id="Ra3d6eb2f4a3041c2"/>
    <p:sldId xmlns:r="http://schemas.openxmlformats.org/officeDocument/2006/relationships" id="259" r:id="R3e8fc4fbb6844329"/>
    <p:sldId xmlns:r="http://schemas.openxmlformats.org/officeDocument/2006/relationships" id="260" r:id="Rc126428b39364b2a"/>
    <p:sldId xmlns:r="http://schemas.openxmlformats.org/officeDocument/2006/relationships" id="261" r:id="Rb9e6e017140d4817"/>
    <p:sldId xmlns:r="http://schemas.openxmlformats.org/officeDocument/2006/relationships" id="262" r:id="Rddf315212737478a"/>
    <p:sldId xmlns:r="http://schemas.openxmlformats.org/officeDocument/2006/relationships" id="263" r:id="R2ff02187704745f3"/>
    <p:sldId xmlns:r="http://schemas.openxmlformats.org/officeDocument/2006/relationships" id="264" r:id="Rb313537841d94445"/>
    <p:sldId xmlns:r="http://schemas.openxmlformats.org/officeDocument/2006/relationships" id="265" r:id="R7611da9dea30453c"/>
    <p:sldId xmlns:r="http://schemas.openxmlformats.org/officeDocument/2006/relationships" id="266" r:id="Re0ae998fa8554d8a"/>
    <p:sldId xmlns:r="http://schemas.openxmlformats.org/officeDocument/2006/relationships" id="267" r:id="Rf66eeb29874a4b3c"/>
    <p:sldId xmlns:r="http://schemas.openxmlformats.org/officeDocument/2006/relationships" id="268" r:id="R2e80110662b64d67"/>
    <p:sldId xmlns:r="http://schemas.openxmlformats.org/officeDocument/2006/relationships" id="269" r:id="Rf957ddbd4cbe49b0"/>
    <p:sldId xmlns:r="http://schemas.openxmlformats.org/officeDocument/2006/relationships" id="270" r:id="Rd9f0d4af15c44f65"/>
    <p:sldId xmlns:r="http://schemas.openxmlformats.org/officeDocument/2006/relationships" id="271" r:id="Rf6c31e031254463d"/>
    <p:sldId xmlns:r="http://schemas.openxmlformats.org/officeDocument/2006/relationships" id="272" r:id="Re64ec9a1d5054d51"/>
    <p:sldId xmlns:r="http://schemas.openxmlformats.org/officeDocument/2006/relationships" id="273" r:id="R43b7176b73104f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459d91a1b943e8" /><Relationship Type="http://schemas.openxmlformats.org/officeDocument/2006/relationships/slideMaster" Target="/ppt/slideMasters/slideMaster1.xml" Id="R057b38181e564236" /><Relationship Type="http://schemas.openxmlformats.org/officeDocument/2006/relationships/notesMaster" Target="/ppt/notesMasters/notesMaster1.xml" Id="Rcf249666288f4cac" /><Relationship Type="http://schemas.openxmlformats.org/officeDocument/2006/relationships/presProps" Target="/ppt/presProps.xml" Id="R0134279e160248be" /><Relationship Type="http://schemas.openxmlformats.org/officeDocument/2006/relationships/tableStyles" Target="/ppt/tableStyles.xml" Id="R86affd984b594899" /><Relationship Type="http://schemas.openxmlformats.org/officeDocument/2006/relationships/slide" Target="/ppt/slides/slide1.xml" Id="R00cd91f2c4714823" /><Relationship Type="http://schemas.openxmlformats.org/officeDocument/2006/relationships/slide" Target="/ppt/slides/slide2.xml" Id="Ra8639eef1aaf4fa3" /><Relationship Type="http://schemas.openxmlformats.org/officeDocument/2006/relationships/slide" Target="/ppt/slides/slide3.xml" Id="Ra3d6eb2f4a3041c2" /><Relationship Type="http://schemas.openxmlformats.org/officeDocument/2006/relationships/slide" Target="/ppt/slides/slide4.xml" Id="R3e8fc4fbb6844329" /><Relationship Type="http://schemas.openxmlformats.org/officeDocument/2006/relationships/slide" Target="/ppt/slides/slide5.xml" Id="Rc126428b39364b2a" /><Relationship Type="http://schemas.openxmlformats.org/officeDocument/2006/relationships/slide" Target="/ppt/slides/slide6.xml" Id="Rb9e6e017140d4817" /><Relationship Type="http://schemas.openxmlformats.org/officeDocument/2006/relationships/slide" Target="/ppt/slides/slide7.xml" Id="Rddf315212737478a" /><Relationship Type="http://schemas.openxmlformats.org/officeDocument/2006/relationships/slide" Target="/ppt/slides/slide8.xml" Id="R2ff02187704745f3" /><Relationship Type="http://schemas.openxmlformats.org/officeDocument/2006/relationships/slide" Target="/ppt/slides/slide9.xml" Id="Rb313537841d94445" /><Relationship Type="http://schemas.openxmlformats.org/officeDocument/2006/relationships/slide" Target="/ppt/slides/slide10.xml" Id="R7611da9dea30453c" /><Relationship Type="http://schemas.openxmlformats.org/officeDocument/2006/relationships/slide" Target="/ppt/slides/slide11.xml" Id="Re0ae998fa8554d8a" /><Relationship Type="http://schemas.openxmlformats.org/officeDocument/2006/relationships/slide" Target="/ppt/slides/slide12.xml" Id="Rf66eeb29874a4b3c" /><Relationship Type="http://schemas.openxmlformats.org/officeDocument/2006/relationships/slide" Target="/ppt/slides/slide13.xml" Id="R2e80110662b64d67" /><Relationship Type="http://schemas.openxmlformats.org/officeDocument/2006/relationships/slide" Target="/ppt/slides/slide14.xml" Id="Rf957ddbd4cbe49b0" /><Relationship Type="http://schemas.openxmlformats.org/officeDocument/2006/relationships/slide" Target="/ppt/slides/slide15.xml" Id="Rd9f0d4af15c44f65" /><Relationship Type="http://schemas.openxmlformats.org/officeDocument/2006/relationships/slide" Target="/ppt/slides/slide16.xml" Id="Rf6c31e031254463d" /><Relationship Type="http://schemas.openxmlformats.org/officeDocument/2006/relationships/slide" Target="/ppt/slides/slide17.xml" Id="Re64ec9a1d5054d51" /><Relationship Type="http://schemas.openxmlformats.org/officeDocument/2006/relationships/slide" Target="/ppt/slides/slide18.xml" Id="R43b7176b73104f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73af5519264c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8158908c9e4f8b" /><Relationship Type="http://schemas.openxmlformats.org/officeDocument/2006/relationships/notesMaster" Target="/ppt/notesMasters/notesMaster1.xml" Id="R1b01fa24eea04c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2c1b790b244dc6" /><Relationship Type="http://schemas.openxmlformats.org/officeDocument/2006/relationships/notesMaster" Target="/ppt/notesMasters/notesMaster1.xml" Id="R4bf7dc4917fd48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c8688a3a1f47f6" /><Relationship Type="http://schemas.openxmlformats.org/officeDocument/2006/relationships/notesMaster" Target="/ppt/notesMasters/notesMaster1.xml" Id="Rf113ed8b7bfe41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2df046edcf43ff" /><Relationship Type="http://schemas.openxmlformats.org/officeDocument/2006/relationships/notesMaster" Target="/ppt/notesMasters/notesMaster1.xml" Id="R71285a33df0e40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1d344e8aaa486f" /><Relationship Type="http://schemas.openxmlformats.org/officeDocument/2006/relationships/notesMaster" Target="/ppt/notesMasters/notesMaster1.xml" Id="Ra24a10506dfb45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3cf14f7b504222" /><Relationship Type="http://schemas.openxmlformats.org/officeDocument/2006/relationships/notesMaster" Target="/ppt/notesMasters/notesMaster1.xml" Id="Rd14f94a213604e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97646f2e394977" /><Relationship Type="http://schemas.openxmlformats.org/officeDocument/2006/relationships/notesMaster" Target="/ppt/notesMasters/notesMaster1.xml" Id="R973f37ccf6c048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9269cbbd974de2" /><Relationship Type="http://schemas.openxmlformats.org/officeDocument/2006/relationships/notesMaster" Target="/ppt/notesMasters/notesMaster1.xml" Id="Ra0c704bb87c949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d9b42853724eb5" /><Relationship Type="http://schemas.openxmlformats.org/officeDocument/2006/relationships/notesMaster" Target="/ppt/notesMasters/notesMaster1.xml" Id="Rb39fa214b9f142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f7460e3ff74d1f" /><Relationship Type="http://schemas.openxmlformats.org/officeDocument/2006/relationships/notesMaster" Target="/ppt/notesMasters/notesMaster1.xml" Id="Rdc27a64d459b49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ab2fa9c5d14574" /><Relationship Type="http://schemas.openxmlformats.org/officeDocument/2006/relationships/notesMaster" Target="/ppt/notesMasters/notesMaster1.xml" Id="Rc0e564ac40ba41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fd98baeb0f409d" /><Relationship Type="http://schemas.openxmlformats.org/officeDocument/2006/relationships/notesMaster" Target="/ppt/notesMasters/notesMaster1.xml" Id="R175154d1387d4ba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b019979b6e4bb0" /><Relationship Type="http://schemas.openxmlformats.org/officeDocument/2006/relationships/notesMaster" Target="/ppt/notesMasters/notesMaster1.xml" Id="R0c37b96fb2e449f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dfcff5847b4bf1" /><Relationship Type="http://schemas.openxmlformats.org/officeDocument/2006/relationships/notesMaster" Target="/ppt/notesMasters/notesMaster1.xml" Id="R5521de7a8068477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84bb792a1f04602" /><Relationship Type="http://schemas.openxmlformats.org/officeDocument/2006/relationships/notesMaster" Target="/ppt/notesMasters/notesMaster1.xml" Id="R970e772a13ff487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d803e1dacab4011" /><Relationship Type="http://schemas.openxmlformats.org/officeDocument/2006/relationships/notesMaster" Target="/ppt/notesMasters/notesMaster1.xml" Id="R89889fa8fa69490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ab3eb61a49441cf" /><Relationship Type="http://schemas.openxmlformats.org/officeDocument/2006/relationships/notesMaster" Target="/ppt/notesMasters/notesMaster1.xml" Id="R2deeb723e2f5454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03de1581ad64d2d" /><Relationship Type="http://schemas.openxmlformats.org/officeDocument/2006/relationships/notesMaster" Target="/ppt/notesMasters/notesMaster1.xml" Id="R9382d95e13794e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来源：seed-round-bp.md。C2C 平台定位沿用原 BP。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来源：/Users/hongli/WorkSpace/Verra-Voile/seed-round-bp.md。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来源：/Users/hongli/WorkSpace/Verra-Voile/seed-round-bp.md。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来源：/Users/hongli/WorkSpace/Verra-Voile/seed-round-bp.md。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来源：/Users/hongli/WorkSpace/Verra-Voile/seed-round-bp.md。数字为 BP 估算口径，未独立核验。来源：[1] 民政部数据/新华社2026年10月转引，[2] 恒州诚思/新浪财经2026年6月。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来源：/Users/hongli/WorkSpace/Verra-Voile/seed-round-bp.md。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来源：/Users/hongli/WorkSpace/Verra-Voile/seed-round-bp.md。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来源：/Users/hongli/WorkSpace/Verra-Voile/seed-round-bp.md。分项直接相加为国内0.25–0.66万元、海外1.44–3.36万元。原文综合毛利为近似口径，不等同净利润。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来源：/Users/hongli/WorkSpace/Verra-Voile/seed-round-bp.md。上述流程为增长路径假设，未表示已形成成熟交易闭环。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来源：/Users/hongli/WorkSpace/Verra-Voile/seed-round-bp.md。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来源：/Users/hongli/WorkSpace/Verra-Voile/seed-round-bp.md。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来源：/Users/hongli/WorkSpace/Verra-Voile/seed-round-bp.md。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来源：/Users/hongli/WorkSpace/Verra-Voile/seed-round-bp.md。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来源：/Users/hongli/WorkSpace/Verra-Voile/seed-round-bp.md。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来源：/Users/hongli/WorkSpace/Verra-Voile/seed-round-bp.md。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来源：/Users/hongli/WorkSpace/Verra-Voile/seed-round-bp.md。差额为262−50及262−30。技术8、测试2、营销5、产品2、设计2、客服2、其他4，合计25人。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来源：/Users/hongli/WorkSpace/Verra-Voile/seed-round-bp.md。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来源：/Users/hongli/WorkSpace/Verra-Voile/seed-round-bp.md。[1] 民政部婚姻登记数据，转引自新华社《山海为证 目的地婚礼成中国年轻人婚恋新风尚》，2026年10月。[2] 恒州诚思/新浪财经《00后主导的婚礼出走！》，2026年6月。原文未提供链接，本稿未独立核验。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ee1ba9541945f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304bcc13b240a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a37df7c213442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801e0f6d4a43c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b9a655810d49d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7f942991f645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AE55BF-C22C-4A15-9BB9-46FFF6E645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1613CD0-89FD-4BA9-9D30-420EF439DE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D2F3F96-2AA5-4F63-BBC4-DFC244B249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450790-BF8C-4EC3-89A4-37C5E9BE49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C5DCB42-8AC3-4016-8B3F-DE592FA66D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3F6CDC0-E512-4A4F-BCC0-6F9D8F641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9DA2CC-7E2C-4940-B97C-6BF79292D7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6666BFD-F613-4949-A317-6EC356A667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F9F970-3F2E-44C5-8AD5-5246C1772E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191A51B-4CE5-4710-BB12-8429F7F091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7559e76a934b53" /><Relationship Type="http://schemas.openxmlformats.org/officeDocument/2006/relationships/slideLayout" Target="/ppt/slideLayouts/slideLayout1.xml" Id="Rff85e80420f344a4" /><Relationship Type="http://schemas.openxmlformats.org/officeDocument/2006/relationships/slideLayout" Target="/ppt/slideLayouts/slideLayout2.xml" Id="R9dc49aaec6874a89" /><Relationship Type="http://schemas.openxmlformats.org/officeDocument/2006/relationships/slideLayout" Target="/ppt/slideLayouts/slideLayout3.xml" Id="R1d347b2315484f24" /><Relationship Type="http://schemas.openxmlformats.org/officeDocument/2006/relationships/slideLayout" Target="/ppt/slideLayouts/slideLayout4.xml" Id="Rb0760ffada3740da" /><Relationship Type="http://schemas.openxmlformats.org/officeDocument/2006/relationships/slideLayout" Target="/ppt/slideLayouts/slideLayout5.xml" Id="R5f01055a90264779" /><Relationship Type="http://schemas.openxmlformats.org/officeDocument/2006/relationships/slideLayout" Target="/ppt/slideLayouts/slideLayout6.xml" Id="R061380e95f524e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85e80420f344a4"/>
    <p:sldLayoutId xmlns:r="http://schemas.openxmlformats.org/officeDocument/2006/relationships" id="2147483650" r:id="R9dc49aaec6874a89"/>
    <p:sldLayoutId xmlns:r="http://schemas.openxmlformats.org/officeDocument/2006/relationships" id="2147483651" r:id="R1d347b2315484f24"/>
    <p:sldLayoutId xmlns:r="http://schemas.openxmlformats.org/officeDocument/2006/relationships" id="2147483652" r:id="Rb0760ffada3740da"/>
    <p:sldLayoutId xmlns:r="http://schemas.openxmlformats.org/officeDocument/2006/relationships" id="2147483653" r:id="R5f01055a90264779"/>
    <p:sldLayoutId xmlns:r="http://schemas.openxmlformats.org/officeDocument/2006/relationships" id="2147483654" r:id="R061380e95f524e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83d42d44c04ec3" /><Relationship Type="http://schemas.openxmlformats.org/officeDocument/2006/relationships/notesSlide" Target="/ppt/notesSlides/notesSlide1.xml" Id="Rdf07dfa4893640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72101bfe924ba6" /><Relationship Type="http://schemas.openxmlformats.org/officeDocument/2006/relationships/notesSlide" Target="/ppt/notesSlides/notesSlide2.xml" Id="R72bc33d412d641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6a9d76548548a4" /><Relationship Type="http://schemas.openxmlformats.org/officeDocument/2006/relationships/notesSlide" Target="/ppt/notesSlides/notesSlide3.xml" Id="R19dc6165879149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ddfadb1c64400e" /><Relationship Type="http://schemas.openxmlformats.org/officeDocument/2006/relationships/notesSlide" Target="/ppt/notesSlides/notesSlide4.xml" Id="Re81a8422b63540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4380603cae45ec" /><Relationship Type="http://schemas.openxmlformats.org/officeDocument/2006/relationships/notesSlide" Target="/ppt/notesSlides/notesSlide5.xml" Id="R963d909dcb6548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8af2534e804e83" /><Relationship Type="http://schemas.openxmlformats.org/officeDocument/2006/relationships/notesSlide" Target="/ppt/notesSlides/notesSlide6.xml" Id="Rf785bce4143943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3d8e7900ae42cf" /><Relationship Type="http://schemas.openxmlformats.org/officeDocument/2006/relationships/notesSlide" Target="/ppt/notesSlides/notesSlide7.xml" Id="R782b67dd56b047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888601db28492f" /><Relationship Type="http://schemas.openxmlformats.org/officeDocument/2006/relationships/notesSlide" Target="/ppt/notesSlides/notesSlide8.xml" Id="R599685ad0e944f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7a9213aae74ceb" /><Relationship Type="http://schemas.openxmlformats.org/officeDocument/2006/relationships/notesSlide" Target="/ppt/notesSlides/notesSlide9.xml" Id="R83048f938dd549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75aaf79ca94a9d" /><Relationship Type="http://schemas.openxmlformats.org/officeDocument/2006/relationships/notesSlide" Target="/ppt/notesSlides/notesSlide10.xml" Id="Rd57e03ce4a4348e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19dc6ea11143e1" /><Relationship Type="http://schemas.openxmlformats.org/officeDocument/2006/relationships/notesSlide" Target="/ppt/notesSlides/notesSlide11.xml" Id="Raff5dfe5c26d48c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ce1a364087451e" /><Relationship Type="http://schemas.openxmlformats.org/officeDocument/2006/relationships/notesSlide" Target="/ppt/notesSlides/notesSlide12.xml" Id="Rdf6816cf3dec4b2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30a2b2b5f84eda" /><Relationship Type="http://schemas.openxmlformats.org/officeDocument/2006/relationships/notesSlide" Target="/ppt/notesSlides/notesSlide13.xml" Id="Rc091c1775bb4405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730f8a92c740c0" /><Relationship Type="http://schemas.openxmlformats.org/officeDocument/2006/relationships/notesSlide" Target="/ppt/notesSlides/notesSlide14.xml" Id="Ra881c57059194b3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a72cbacbcc45d3" /><Relationship Type="http://schemas.openxmlformats.org/officeDocument/2006/relationships/notesSlide" Target="/ppt/notesSlides/notesSlide15.xml" Id="R54d852be2c294ab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2213d95e604100" /><Relationship Type="http://schemas.openxmlformats.org/officeDocument/2006/relationships/notesSlide" Target="/ppt/notesSlides/notesSlide16.xml" Id="Rd4db9b2ac050487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3aee176d924ddd" /><Relationship Type="http://schemas.openxmlformats.org/officeDocument/2006/relationships/notesSlide" Target="/ppt/notesSlides/notesSlide17.xml" Id="R689e00270f3f40a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6dc44961684083" /><Relationship Type="http://schemas.openxmlformats.org/officeDocument/2006/relationships/notesSlide" Target="/ppt/notesSlides/notesSlide18.xml" Id="R4cd43c04fd6e45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642D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4B579-6D05-45D6-881E-AE7DEFF4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43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4CFC1"/>
                </a:solidFill>
              </a:defRPr>
            </a:defPPr>
            <a:lvl1pPr>
              <a:defRPr sz="2100" b="0">
                <a:solidFill>
                  <a:srgbClr val="E4CFC1"/>
                </a:solidFill>
              </a:defRPr>
            </a:lvl1pPr>
            <a:lvl2pPr>
              <a:defRPr sz="2100" b="0">
                <a:solidFill>
                  <a:srgbClr val="E4CFC1"/>
                </a:solidFill>
              </a:defRPr>
            </a:lvl2pPr>
            <a:lvl3pPr>
              <a:defRPr sz="2100" b="0">
                <a:solidFill>
                  <a:srgbClr val="E4CFC1"/>
                </a:solidFill>
              </a:defRPr>
            </a:lvl3pPr>
            <a:lvl4pPr>
              <a:defRPr sz="2100" b="0">
                <a:solidFill>
                  <a:srgbClr val="E4CFC1"/>
                </a:solidFill>
              </a:defRPr>
            </a:lvl4pPr>
            <a:lvl5pPr>
              <a:defRPr sz="2100" b="0">
                <a:solidFill>
                  <a:srgbClr val="E4CFC1"/>
                </a:solidFill>
              </a:defRPr>
            </a:lvl5pPr>
            <a:lvl6pPr>
              <a:defRPr sz="2100" b="0">
                <a:solidFill>
                  <a:srgbClr val="E4CFC1"/>
                </a:solidFill>
              </a:defRPr>
            </a:lvl6pPr>
            <a:lvl7pPr>
              <a:defRPr sz="2100" b="0">
                <a:solidFill>
                  <a:srgbClr val="E4CFC1"/>
                </a:solidFill>
              </a:defRPr>
            </a:lvl7pPr>
            <a:lvl8pPr>
              <a:defRPr sz="2100" b="0">
                <a:solidFill>
                  <a:srgbClr val="E4CFC1"/>
                </a:solidFill>
              </a:defRPr>
            </a:lvl8pPr>
            <a:lvl9pPr>
              <a:defRPr sz="2100" b="0">
                <a:solidFill>
                  <a:srgbClr val="E4CFC1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E4CFC1"/>
                </a:solidFill>
              </a:defRPr>
            </a:pPr>
            <a:r>
              <a:rPr sz="2100" b="0">
                <a:solidFill>
                  <a:srgbClr val="E4CFC1"/>
                </a:solidFill>
              </a:rPr>
              <a:t>VERRA VOILE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5B3583-68FD-4E1E-9DA0-DB5B989F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66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FFFFFF"/>
                </a:solidFill>
              </a:defRPr>
            </a:defPPr>
            <a:lvl1pPr>
              <a:defRPr sz="4950" b="1">
                <a:solidFill>
                  <a:srgbClr val="FFFFFF"/>
                </a:solidFill>
              </a:defRPr>
            </a:lvl1pPr>
            <a:lvl2pPr>
              <a:defRPr sz="4950" b="1">
                <a:solidFill>
                  <a:srgbClr val="FFFFFF"/>
                </a:solidFill>
              </a:defRPr>
            </a:lvl2pPr>
            <a:lvl3pPr>
              <a:defRPr sz="4950" b="1">
                <a:solidFill>
                  <a:srgbClr val="FFFFFF"/>
                </a:solidFill>
              </a:defRPr>
            </a:lvl3pPr>
            <a:lvl4pPr>
              <a:defRPr sz="4950" b="1">
                <a:solidFill>
                  <a:srgbClr val="FFFFFF"/>
                </a:solidFill>
              </a:defRPr>
            </a:lvl4pPr>
            <a:lvl5pPr>
              <a:defRPr sz="4950" b="1">
                <a:solidFill>
                  <a:srgbClr val="FFFFFF"/>
                </a:solidFill>
              </a:defRPr>
            </a:lvl5pPr>
            <a:lvl6pPr>
              <a:defRPr sz="4950" b="1">
                <a:solidFill>
                  <a:srgbClr val="FFFFFF"/>
                </a:solidFill>
              </a:defRPr>
            </a:lvl6pPr>
            <a:lvl7pPr>
              <a:defRPr sz="4950" b="1">
                <a:solidFill>
                  <a:srgbClr val="FFFFFF"/>
                </a:solidFill>
              </a:defRPr>
            </a:lvl7pPr>
            <a:lvl8pPr>
              <a:defRPr sz="4950" b="1">
                <a:solidFill>
                  <a:srgbClr val="FFFFFF"/>
                </a:solidFill>
              </a:defRPr>
            </a:lvl8pPr>
            <a:lvl9pPr>
              <a:defRPr sz="49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AI 驱动的</a:t>
            </a:r>
          </a:p>
          <a:p xmlns:a="http://schemas.openxmlformats.org/drawingml/2006/main">
            <a:pPr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目的地婚礼平台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0508A-8ADF-493C-83A3-AC9FDD67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0E3D8"/>
                </a:solidFill>
              </a:defRPr>
            </a:defPPr>
            <a:lvl1pPr>
              <a:defRPr sz="2250" b="0">
                <a:solidFill>
                  <a:srgbClr val="F0E3D8"/>
                </a:solidFill>
              </a:defRPr>
            </a:lvl1pPr>
            <a:lvl2pPr>
              <a:defRPr sz="2250" b="0">
                <a:solidFill>
                  <a:srgbClr val="F0E3D8"/>
                </a:solidFill>
              </a:defRPr>
            </a:lvl2pPr>
            <a:lvl3pPr>
              <a:defRPr sz="2250" b="0">
                <a:solidFill>
                  <a:srgbClr val="F0E3D8"/>
                </a:solidFill>
              </a:defRPr>
            </a:lvl3pPr>
            <a:lvl4pPr>
              <a:defRPr sz="2250" b="0">
                <a:solidFill>
                  <a:srgbClr val="F0E3D8"/>
                </a:solidFill>
              </a:defRPr>
            </a:lvl4pPr>
            <a:lvl5pPr>
              <a:defRPr sz="2250" b="0">
                <a:solidFill>
                  <a:srgbClr val="F0E3D8"/>
                </a:solidFill>
              </a:defRPr>
            </a:lvl5pPr>
            <a:lvl6pPr>
              <a:defRPr sz="2250" b="0">
                <a:solidFill>
                  <a:srgbClr val="F0E3D8"/>
                </a:solidFill>
              </a:defRPr>
            </a:lvl6pPr>
            <a:lvl7pPr>
              <a:defRPr sz="2250" b="0">
                <a:solidFill>
                  <a:srgbClr val="F0E3D8"/>
                </a:solidFill>
              </a:defRPr>
            </a:lvl7pPr>
            <a:lvl8pPr>
              <a:defRPr sz="2250" b="0">
                <a:solidFill>
                  <a:srgbClr val="F0E3D8"/>
                </a:solidFill>
              </a:defRPr>
            </a:lvl8pPr>
            <a:lvl9pPr>
              <a:defRPr sz="2250" b="0">
                <a:solidFill>
                  <a:srgbClr val="F0E3D8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0E3D8"/>
                </a:solidFill>
              </a:defRPr>
            </a:pPr>
            <a:r>
              <a:rPr sz="2250" b="0">
                <a:solidFill>
                  <a:srgbClr val="F0E3D8"/>
                </a:solidFill>
              </a:rPr>
              <a:t>连接新人和独立商家，自由选配每一个婚礼环节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876A3-A1D4-424B-BDA0-9C63D56C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E4CFC1"/>
                </a:solidFill>
              </a:defRPr>
            </a:defPPr>
            <a:lvl1pPr>
              <a:defRPr sz="1800" b="0">
                <a:solidFill>
                  <a:srgbClr val="E4CFC1"/>
                </a:solidFill>
              </a:defRPr>
            </a:lvl1pPr>
            <a:lvl2pPr>
              <a:defRPr sz="1800" b="0">
                <a:solidFill>
                  <a:srgbClr val="E4CFC1"/>
                </a:solidFill>
              </a:defRPr>
            </a:lvl2pPr>
            <a:lvl3pPr>
              <a:defRPr sz="1800" b="0">
                <a:solidFill>
                  <a:srgbClr val="E4CFC1"/>
                </a:solidFill>
              </a:defRPr>
            </a:lvl3pPr>
            <a:lvl4pPr>
              <a:defRPr sz="1800" b="0">
                <a:solidFill>
                  <a:srgbClr val="E4CFC1"/>
                </a:solidFill>
              </a:defRPr>
            </a:lvl4pPr>
            <a:lvl5pPr>
              <a:defRPr sz="1800" b="0">
                <a:solidFill>
                  <a:srgbClr val="E4CFC1"/>
                </a:solidFill>
              </a:defRPr>
            </a:lvl5pPr>
            <a:lvl6pPr>
              <a:defRPr sz="1800" b="0">
                <a:solidFill>
                  <a:srgbClr val="E4CFC1"/>
                </a:solidFill>
              </a:defRPr>
            </a:lvl6pPr>
            <a:lvl7pPr>
              <a:defRPr sz="1800" b="0">
                <a:solidFill>
                  <a:srgbClr val="E4CFC1"/>
                </a:solidFill>
              </a:defRPr>
            </a:lvl7pPr>
            <a:lvl8pPr>
              <a:defRPr sz="1800" b="0">
                <a:solidFill>
                  <a:srgbClr val="E4CFC1"/>
                </a:solidFill>
              </a:defRPr>
            </a:lvl8pPr>
            <a:lvl9pPr>
              <a:defRPr sz="1800" b="0">
                <a:solidFill>
                  <a:srgbClr val="E4CFC1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E4CFC1"/>
                </a:solidFill>
              </a:defRPr>
            </a:pPr>
            <a:r>
              <a:rPr sz="1800" b="0">
                <a:solidFill>
                  <a:srgbClr val="E4CFC1"/>
                </a:solidFill>
              </a:rPr>
              <a:t>天使轮融资计划   2026.10</a:t>
            </a:r>
          </a:p>
        </p:txBody>
      </p:sp>
    </p:spTree>
    <p:extLst>
      <p:ext uri="{BB962C8B-B14F-4D97-AF65-F5344CB8AC3E}">
        <p14:creationId xmlns:p14="http://schemas.microsoft.com/office/powerpoint/2010/main" val="3902002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8F837-DAF3-402D-B5EC-F8219B0D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目的地婚礼的决策障碍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A7427-7A64-4DF5-B738-289F5BA2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6E67"/>
                </a:solidFill>
              </a:defRPr>
            </a:defPPr>
            <a:lvl1pPr>
              <a:defRPr sz="1200" b="0">
                <a:solidFill>
                  <a:srgbClr val="776E67"/>
                </a:solidFill>
              </a:defRPr>
            </a:lvl1pPr>
            <a:lvl2pPr>
              <a:defRPr sz="1200" b="0">
                <a:solidFill>
                  <a:srgbClr val="776E67"/>
                </a:solidFill>
              </a:defRPr>
            </a:lvl2pPr>
            <a:lvl3pPr>
              <a:defRPr sz="1200" b="0">
                <a:solidFill>
                  <a:srgbClr val="776E67"/>
                </a:solidFill>
              </a:defRPr>
            </a:lvl3pPr>
            <a:lvl4pPr>
              <a:defRPr sz="1200" b="0">
                <a:solidFill>
                  <a:srgbClr val="776E67"/>
                </a:solidFill>
              </a:defRPr>
            </a:lvl4pPr>
            <a:lvl5pPr>
              <a:defRPr sz="1200" b="0">
                <a:solidFill>
                  <a:srgbClr val="776E67"/>
                </a:solidFill>
              </a:defRPr>
            </a:lvl5pPr>
            <a:lvl6pPr>
              <a:defRPr sz="1200" b="0">
                <a:solidFill>
                  <a:srgbClr val="776E67"/>
                </a:solidFill>
              </a:defRPr>
            </a:lvl6pPr>
            <a:lvl7pPr>
              <a:defRPr sz="1200" b="0">
                <a:solidFill>
                  <a:srgbClr val="776E67"/>
                </a:solidFill>
              </a:defRPr>
            </a:lvl7pPr>
            <a:lvl8pPr>
              <a:defRPr sz="1200" b="0">
                <a:solidFill>
                  <a:srgbClr val="776E67"/>
                </a:solidFill>
              </a:defRPr>
            </a:lvl8pPr>
            <a:lvl9pPr>
              <a:defRPr sz="120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76E67"/>
                </a:solidFill>
              </a:defRPr>
            </a:pPr>
            <a:r>
              <a:rPr sz="1200" b="0">
                <a:solidFill>
                  <a:srgbClr val="776E67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1EDF6-27F3-4AB6-BF01-2AFFE5FD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42D3E"/>
                </a:solidFill>
              </a:defRPr>
            </a:defPPr>
            <a:lvl1pPr>
              <a:defRPr sz="2250" b="1">
                <a:solidFill>
                  <a:srgbClr val="642D3E"/>
                </a:solidFill>
              </a:defRPr>
            </a:lvl1pPr>
            <a:lvl2pPr>
              <a:defRPr sz="2250" b="1">
                <a:solidFill>
                  <a:srgbClr val="642D3E"/>
                </a:solidFill>
              </a:defRPr>
            </a:lvl2pPr>
            <a:lvl3pPr>
              <a:defRPr sz="2250" b="1">
                <a:solidFill>
                  <a:srgbClr val="642D3E"/>
                </a:solidFill>
              </a:defRPr>
            </a:lvl3pPr>
            <a:lvl4pPr>
              <a:defRPr sz="2250" b="1">
                <a:solidFill>
                  <a:srgbClr val="642D3E"/>
                </a:solidFill>
              </a:defRPr>
            </a:lvl4pPr>
            <a:lvl5pPr>
              <a:defRPr sz="2250" b="1">
                <a:solidFill>
                  <a:srgbClr val="642D3E"/>
                </a:solidFill>
              </a:defRPr>
            </a:lvl5pPr>
            <a:lvl6pPr>
              <a:defRPr sz="2250" b="1">
                <a:solidFill>
                  <a:srgbClr val="642D3E"/>
                </a:solidFill>
              </a:defRPr>
            </a:lvl6pPr>
            <a:lvl7pPr>
              <a:defRPr sz="2250" b="1">
                <a:solidFill>
                  <a:srgbClr val="642D3E"/>
                </a:solidFill>
              </a:defRPr>
            </a:lvl7pPr>
            <a:lvl8pPr>
              <a:defRPr sz="2250" b="1">
                <a:solidFill>
                  <a:srgbClr val="642D3E"/>
                </a:solidFill>
              </a:defRPr>
            </a:lvl8pPr>
            <a:lvl9pPr>
              <a:defRPr sz="22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42D3E"/>
                </a:solidFill>
              </a:defRPr>
            </a:pPr>
            <a:r>
              <a:rPr sz="2250" b="1">
                <a:solidFill>
                  <a:srgbClr val="642D3E"/>
                </a:solidFill>
              </a:rPr>
              <a:t>用户难以建立信任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ED4DE-D652-40EA-8845-CAAFFA3B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857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02B29"/>
                </a:solidFill>
              </a:defRPr>
            </a:defPPr>
            <a:lvl1pPr>
              <a:defRPr sz="1950" b="0">
                <a:solidFill>
                  <a:srgbClr val="302B29"/>
                </a:solidFill>
              </a:defRPr>
            </a:lvl1pPr>
            <a:lvl2pPr>
              <a:defRPr sz="1950" b="0">
                <a:solidFill>
                  <a:srgbClr val="302B29"/>
                </a:solidFill>
              </a:defRPr>
            </a:lvl2pPr>
            <a:lvl3pPr>
              <a:defRPr sz="1950" b="0">
                <a:solidFill>
                  <a:srgbClr val="302B29"/>
                </a:solidFill>
              </a:defRPr>
            </a:lvl3pPr>
            <a:lvl4pPr>
              <a:defRPr sz="1950" b="0">
                <a:solidFill>
                  <a:srgbClr val="302B29"/>
                </a:solidFill>
              </a:defRPr>
            </a:lvl4pPr>
            <a:lvl5pPr>
              <a:defRPr sz="1950" b="0">
                <a:solidFill>
                  <a:srgbClr val="302B29"/>
                </a:solidFill>
              </a:defRPr>
            </a:lvl5pPr>
            <a:lvl6pPr>
              <a:defRPr sz="1950" b="0">
                <a:solidFill>
                  <a:srgbClr val="302B29"/>
                </a:solidFill>
              </a:defRPr>
            </a:lvl6pPr>
            <a:lvl7pPr>
              <a:defRPr sz="1950" b="0">
                <a:solidFill>
                  <a:srgbClr val="302B29"/>
                </a:solidFill>
              </a:defRPr>
            </a:lvl7pPr>
            <a:lvl8pPr>
              <a:defRPr sz="1950" b="0">
                <a:solidFill>
                  <a:srgbClr val="302B29"/>
                </a:solidFill>
              </a:defRPr>
            </a:lvl8pPr>
            <a:lvl9pPr>
              <a:defRPr sz="195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供应商信誉分散，服务质量难核实</a:t>
            </a:r>
          </a:p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婚礼效果与现场体验存在不确定性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D673F-A1C7-46CD-8212-E391FC58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335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42D3E"/>
                </a:solidFill>
              </a:defRPr>
            </a:defPPr>
            <a:lvl1pPr>
              <a:defRPr sz="2250" b="1">
                <a:solidFill>
                  <a:srgbClr val="642D3E"/>
                </a:solidFill>
              </a:defRPr>
            </a:lvl1pPr>
            <a:lvl2pPr>
              <a:defRPr sz="2250" b="1">
                <a:solidFill>
                  <a:srgbClr val="642D3E"/>
                </a:solidFill>
              </a:defRPr>
            </a:lvl2pPr>
            <a:lvl3pPr>
              <a:defRPr sz="2250" b="1">
                <a:solidFill>
                  <a:srgbClr val="642D3E"/>
                </a:solidFill>
              </a:defRPr>
            </a:lvl3pPr>
            <a:lvl4pPr>
              <a:defRPr sz="2250" b="1">
                <a:solidFill>
                  <a:srgbClr val="642D3E"/>
                </a:solidFill>
              </a:defRPr>
            </a:lvl4pPr>
            <a:lvl5pPr>
              <a:defRPr sz="2250" b="1">
                <a:solidFill>
                  <a:srgbClr val="642D3E"/>
                </a:solidFill>
              </a:defRPr>
            </a:lvl5pPr>
            <a:lvl6pPr>
              <a:defRPr sz="2250" b="1">
                <a:solidFill>
                  <a:srgbClr val="642D3E"/>
                </a:solidFill>
              </a:defRPr>
            </a:lvl6pPr>
            <a:lvl7pPr>
              <a:defRPr sz="2250" b="1">
                <a:solidFill>
                  <a:srgbClr val="642D3E"/>
                </a:solidFill>
              </a:defRPr>
            </a:lvl7pPr>
            <a:lvl8pPr>
              <a:defRPr sz="2250" b="1">
                <a:solidFill>
                  <a:srgbClr val="642D3E"/>
                </a:solidFill>
              </a:defRPr>
            </a:lvl8pPr>
            <a:lvl9pPr>
              <a:defRPr sz="22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42D3E"/>
                </a:solidFill>
              </a:defRPr>
            </a:pPr>
            <a:r>
              <a:rPr sz="2250" b="1">
                <a:solidFill>
                  <a:srgbClr val="642D3E"/>
                </a:solidFill>
              </a:rPr>
              <a:t>价格与选择不够透明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A5D7CD-4ABC-4D13-8FA5-7528BF34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05050"/>
            <a:ext cx="4857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02B29"/>
                </a:solidFill>
              </a:defRPr>
            </a:defPPr>
            <a:lvl1pPr>
              <a:defRPr sz="1950" b="0">
                <a:solidFill>
                  <a:srgbClr val="302B29"/>
                </a:solidFill>
              </a:defRPr>
            </a:lvl1pPr>
            <a:lvl2pPr>
              <a:defRPr sz="1950" b="0">
                <a:solidFill>
                  <a:srgbClr val="302B29"/>
                </a:solidFill>
              </a:defRPr>
            </a:lvl2pPr>
            <a:lvl3pPr>
              <a:defRPr sz="1950" b="0">
                <a:solidFill>
                  <a:srgbClr val="302B29"/>
                </a:solidFill>
              </a:defRPr>
            </a:lvl3pPr>
            <a:lvl4pPr>
              <a:defRPr sz="1950" b="0">
                <a:solidFill>
                  <a:srgbClr val="302B29"/>
                </a:solidFill>
              </a:defRPr>
            </a:lvl4pPr>
            <a:lvl5pPr>
              <a:defRPr sz="1950" b="0">
                <a:solidFill>
                  <a:srgbClr val="302B29"/>
                </a:solidFill>
              </a:defRPr>
            </a:lvl5pPr>
            <a:lvl6pPr>
              <a:defRPr sz="1950" b="0">
                <a:solidFill>
                  <a:srgbClr val="302B29"/>
                </a:solidFill>
              </a:defRPr>
            </a:lvl6pPr>
            <a:lvl7pPr>
              <a:defRPr sz="1950" b="0">
                <a:solidFill>
                  <a:srgbClr val="302B29"/>
                </a:solidFill>
              </a:defRPr>
            </a:lvl7pPr>
            <a:lvl8pPr>
              <a:defRPr sz="1950" b="0">
                <a:solidFill>
                  <a:srgbClr val="302B29"/>
                </a:solidFill>
              </a:defRPr>
            </a:lvl8pPr>
            <a:lvl9pPr>
              <a:defRPr sz="195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套餐打包，单项服务难比价</a:t>
            </a:r>
          </a:p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标准化方案难以满足个性化需求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BCA45-ECB3-4D8F-A2E3-F60ACD0C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42D3E"/>
                </a:solidFill>
              </a:defRPr>
            </a:defPPr>
            <a:lvl1pPr>
              <a:defRPr sz="2250" b="1">
                <a:solidFill>
                  <a:srgbClr val="642D3E"/>
                </a:solidFill>
              </a:defRPr>
            </a:lvl1pPr>
            <a:lvl2pPr>
              <a:defRPr sz="2250" b="1">
                <a:solidFill>
                  <a:srgbClr val="642D3E"/>
                </a:solidFill>
              </a:defRPr>
            </a:lvl2pPr>
            <a:lvl3pPr>
              <a:defRPr sz="2250" b="1">
                <a:solidFill>
                  <a:srgbClr val="642D3E"/>
                </a:solidFill>
              </a:defRPr>
            </a:lvl3pPr>
            <a:lvl4pPr>
              <a:defRPr sz="2250" b="1">
                <a:solidFill>
                  <a:srgbClr val="642D3E"/>
                </a:solidFill>
              </a:defRPr>
            </a:lvl4pPr>
            <a:lvl5pPr>
              <a:defRPr sz="2250" b="1">
                <a:solidFill>
                  <a:srgbClr val="642D3E"/>
                </a:solidFill>
              </a:defRPr>
            </a:lvl5pPr>
            <a:lvl6pPr>
              <a:defRPr sz="2250" b="1">
                <a:solidFill>
                  <a:srgbClr val="642D3E"/>
                </a:solidFill>
              </a:defRPr>
            </a:lvl6pPr>
            <a:lvl7pPr>
              <a:defRPr sz="2250" b="1">
                <a:solidFill>
                  <a:srgbClr val="642D3E"/>
                </a:solidFill>
              </a:defRPr>
            </a:lvl7pPr>
            <a:lvl8pPr>
              <a:defRPr sz="2250" b="1">
                <a:solidFill>
                  <a:srgbClr val="642D3E"/>
                </a:solidFill>
              </a:defRPr>
            </a:lvl8pPr>
            <a:lvl9pPr>
              <a:defRPr sz="22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42D3E"/>
                </a:solidFill>
              </a:defRPr>
            </a:pPr>
            <a:r>
              <a:rPr sz="2250" b="1">
                <a:solidFill>
                  <a:srgbClr val="642D3E"/>
                </a:solidFill>
              </a:rPr>
              <a:t>跨地域服务协调困难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B0AB6-32CF-4A2E-8F11-5033BFA5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4857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02B29"/>
                </a:solidFill>
              </a:defRPr>
            </a:defPPr>
            <a:lvl1pPr>
              <a:defRPr sz="1950" b="0">
                <a:solidFill>
                  <a:srgbClr val="302B29"/>
                </a:solidFill>
              </a:defRPr>
            </a:lvl1pPr>
            <a:lvl2pPr>
              <a:defRPr sz="1950" b="0">
                <a:solidFill>
                  <a:srgbClr val="302B29"/>
                </a:solidFill>
              </a:defRPr>
            </a:lvl2pPr>
            <a:lvl3pPr>
              <a:defRPr sz="1950" b="0">
                <a:solidFill>
                  <a:srgbClr val="302B29"/>
                </a:solidFill>
              </a:defRPr>
            </a:lvl3pPr>
            <a:lvl4pPr>
              <a:defRPr sz="1950" b="0">
                <a:solidFill>
                  <a:srgbClr val="302B29"/>
                </a:solidFill>
              </a:defRPr>
            </a:lvl4pPr>
            <a:lvl5pPr>
              <a:defRPr sz="1950" b="0">
                <a:solidFill>
                  <a:srgbClr val="302B29"/>
                </a:solidFill>
              </a:defRPr>
            </a:lvl5pPr>
            <a:lvl6pPr>
              <a:defRPr sz="1950" b="0">
                <a:solidFill>
                  <a:srgbClr val="302B29"/>
                </a:solidFill>
              </a:defRPr>
            </a:lvl6pPr>
            <a:lvl7pPr>
              <a:defRPr sz="1950" b="0">
                <a:solidFill>
                  <a:srgbClr val="302B29"/>
                </a:solidFill>
              </a:defRPr>
            </a:lvl7pPr>
            <a:lvl8pPr>
              <a:defRPr sz="1950" b="0">
                <a:solidFill>
                  <a:srgbClr val="302B29"/>
                </a:solidFill>
              </a:defRPr>
            </a:lvl8pPr>
            <a:lvl9pPr>
              <a:defRPr sz="195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筹备链路长，用户缺少现场支持</a:t>
            </a:r>
          </a:p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服务纠纷与履约风险难以处理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56F84-A114-4151-9330-E4716588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195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42D3E"/>
                </a:solidFill>
              </a:defRPr>
            </a:defPPr>
            <a:lvl1pPr>
              <a:defRPr sz="2250" b="1">
                <a:solidFill>
                  <a:srgbClr val="642D3E"/>
                </a:solidFill>
              </a:defRPr>
            </a:lvl1pPr>
            <a:lvl2pPr>
              <a:defRPr sz="2250" b="1">
                <a:solidFill>
                  <a:srgbClr val="642D3E"/>
                </a:solidFill>
              </a:defRPr>
            </a:lvl2pPr>
            <a:lvl3pPr>
              <a:defRPr sz="2250" b="1">
                <a:solidFill>
                  <a:srgbClr val="642D3E"/>
                </a:solidFill>
              </a:defRPr>
            </a:lvl3pPr>
            <a:lvl4pPr>
              <a:defRPr sz="2250" b="1">
                <a:solidFill>
                  <a:srgbClr val="642D3E"/>
                </a:solidFill>
              </a:defRPr>
            </a:lvl4pPr>
            <a:lvl5pPr>
              <a:defRPr sz="2250" b="1">
                <a:solidFill>
                  <a:srgbClr val="642D3E"/>
                </a:solidFill>
              </a:defRPr>
            </a:lvl5pPr>
            <a:lvl6pPr>
              <a:defRPr sz="2250" b="1">
                <a:solidFill>
                  <a:srgbClr val="642D3E"/>
                </a:solidFill>
              </a:defRPr>
            </a:lvl6pPr>
            <a:lvl7pPr>
              <a:defRPr sz="2250" b="1">
                <a:solidFill>
                  <a:srgbClr val="642D3E"/>
                </a:solidFill>
              </a:defRPr>
            </a:lvl7pPr>
            <a:lvl8pPr>
              <a:defRPr sz="2250" b="1">
                <a:solidFill>
                  <a:srgbClr val="642D3E"/>
                </a:solidFill>
              </a:defRPr>
            </a:lvl8pPr>
            <a:lvl9pPr>
              <a:defRPr sz="22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42D3E"/>
                </a:solidFill>
              </a:defRPr>
            </a:pPr>
            <a:r>
              <a:rPr sz="2250" b="1">
                <a:solidFill>
                  <a:srgbClr val="642D3E"/>
                </a:solidFill>
              </a:rPr>
              <a:t>独立商家缺少稳定客源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073584-2F35-409A-B814-441FC596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91025"/>
            <a:ext cx="4857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02B29"/>
                </a:solidFill>
              </a:defRPr>
            </a:defPPr>
            <a:lvl1pPr>
              <a:defRPr sz="1950" b="0">
                <a:solidFill>
                  <a:srgbClr val="302B29"/>
                </a:solidFill>
              </a:defRPr>
            </a:lvl1pPr>
            <a:lvl2pPr>
              <a:defRPr sz="1950" b="0">
                <a:solidFill>
                  <a:srgbClr val="302B29"/>
                </a:solidFill>
              </a:defRPr>
            </a:lvl2pPr>
            <a:lvl3pPr>
              <a:defRPr sz="1950" b="0">
                <a:solidFill>
                  <a:srgbClr val="302B29"/>
                </a:solidFill>
              </a:defRPr>
            </a:lvl3pPr>
            <a:lvl4pPr>
              <a:defRPr sz="1950" b="0">
                <a:solidFill>
                  <a:srgbClr val="302B29"/>
                </a:solidFill>
              </a:defRPr>
            </a:lvl4pPr>
            <a:lvl5pPr>
              <a:defRPr sz="1950" b="0">
                <a:solidFill>
                  <a:srgbClr val="302B29"/>
                </a:solidFill>
              </a:defRPr>
            </a:lvl5pPr>
            <a:lvl6pPr>
              <a:defRPr sz="1950" b="0">
                <a:solidFill>
                  <a:srgbClr val="302B29"/>
                </a:solidFill>
              </a:defRPr>
            </a:lvl6pPr>
            <a:lvl7pPr>
              <a:defRPr sz="1950" b="0">
                <a:solidFill>
                  <a:srgbClr val="302B29"/>
                </a:solidFill>
              </a:defRPr>
            </a:lvl7pPr>
            <a:lvl8pPr>
              <a:defRPr sz="1950" b="0">
                <a:solidFill>
                  <a:srgbClr val="302B29"/>
                </a:solidFill>
              </a:defRPr>
            </a:lvl8pPr>
            <a:lvl9pPr>
              <a:defRPr sz="195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摄影师、妆造师及设计师曝光有限</a:t>
            </a:r>
          </a:p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获客渠道与品牌背书不足</a:t>
            </a:r>
          </a:p>
        </p:txBody>
      </p:sp>
    </p:spTree>
    <p:extLst>
      <p:ext uri="{BB962C8B-B14F-4D97-AF65-F5344CB8AC3E}">
        <p14:creationId xmlns:p14="http://schemas.microsoft.com/office/powerpoint/2010/main" val="3149332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EFF13-D871-4958-A14E-1C8573CA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真实案例引导，自主组合服务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07686-B201-4854-8A14-9AAE1447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6E67"/>
                </a:solidFill>
              </a:defRPr>
            </a:defPPr>
            <a:lvl1pPr>
              <a:defRPr sz="1200" b="0">
                <a:solidFill>
                  <a:srgbClr val="776E67"/>
                </a:solidFill>
              </a:defRPr>
            </a:lvl1pPr>
            <a:lvl2pPr>
              <a:defRPr sz="1200" b="0">
                <a:solidFill>
                  <a:srgbClr val="776E67"/>
                </a:solidFill>
              </a:defRPr>
            </a:lvl2pPr>
            <a:lvl3pPr>
              <a:defRPr sz="1200" b="0">
                <a:solidFill>
                  <a:srgbClr val="776E67"/>
                </a:solidFill>
              </a:defRPr>
            </a:lvl3pPr>
            <a:lvl4pPr>
              <a:defRPr sz="1200" b="0">
                <a:solidFill>
                  <a:srgbClr val="776E67"/>
                </a:solidFill>
              </a:defRPr>
            </a:lvl4pPr>
            <a:lvl5pPr>
              <a:defRPr sz="1200" b="0">
                <a:solidFill>
                  <a:srgbClr val="776E67"/>
                </a:solidFill>
              </a:defRPr>
            </a:lvl5pPr>
            <a:lvl6pPr>
              <a:defRPr sz="1200" b="0">
                <a:solidFill>
                  <a:srgbClr val="776E67"/>
                </a:solidFill>
              </a:defRPr>
            </a:lvl6pPr>
            <a:lvl7pPr>
              <a:defRPr sz="1200" b="0">
                <a:solidFill>
                  <a:srgbClr val="776E67"/>
                </a:solidFill>
              </a:defRPr>
            </a:lvl7pPr>
            <a:lvl8pPr>
              <a:defRPr sz="1200" b="0">
                <a:solidFill>
                  <a:srgbClr val="776E67"/>
                </a:solidFill>
              </a:defRPr>
            </a:lvl8pPr>
            <a:lvl9pPr>
              <a:defRPr sz="120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76E67"/>
                </a:solidFill>
              </a:defRPr>
            </a:pPr>
            <a:r>
              <a:rPr sz="1200" b="0">
                <a:solidFill>
                  <a:srgbClr val="776E67"/>
                </a:solidFill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2281C-E83F-4147-ADB8-55338900EFD1}"/>
              </a:ext>
            </a:extLst>
          </p:cNvPr>
          <p:cNvGraphicFramePr/>
          <p:nvPr/>
        </p:nvGraphicFramePr>
        <p:xfrm>
          <a:off xmlns:a="http://schemas.openxmlformats.org/drawingml/2006/main" x="685800" y="1676400"/>
          <a:ext xmlns:a="http://schemas.openxmlformats.org/drawingml/2006/main" cx="10820400" cy="3581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476750"/>
                <a:gridCol w="4248150"/>
              </a:tblGrid>
              <a:tr h="71628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用户决策环节</a:t>
                      </a:r>
                    </a:p>
                  </a:txBody>
                  <a:tcPr marL="91440" marR="91440" marT="45720" marB="45720">
                    <a:solidFill>
                      <a:srgbClr val="642D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平台机制</a:t>
                      </a:r>
                    </a:p>
                  </a:txBody>
                  <a:tcPr marL="91440" marR="91440" marT="45720" marB="45720">
                    <a:solidFill>
                      <a:srgbClr val="642D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希望改善的体验</a:t>
                      </a:r>
                    </a:p>
                  </a:txBody>
                  <a:tcPr marL="91440" marR="91440" marT="45720" marB="45720">
                    <a:solidFill>
                      <a:srgbClr val="642D3E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B29"/>
                          </a:solidFill>
                        </a:rPr>
                        <a:t>发现灵感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B29"/>
                          </a:solidFill>
                        </a:rPr>
                        <a:t>真实婚礼案例与现场实拍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B29"/>
                          </a:solidFill>
                        </a:rPr>
                        <a:t>先看效果，再选服务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B29"/>
                          </a:solidFill>
                        </a:rPr>
                        <a:t>选择商家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B29"/>
                          </a:solidFill>
                        </a:rPr>
                        <a:t>按目的地、摄影等拆分品类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B29"/>
                          </a:solidFill>
                        </a:rPr>
                        <a:t>逐项筛选，独立比价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B29"/>
                          </a:solidFill>
                        </a:rPr>
                        <a:t>确认服务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B29"/>
                          </a:solidFill>
                        </a:rPr>
                        <a:t>76 问承诺制、评分及保障金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B29"/>
                          </a:solidFill>
                        </a:rPr>
                        <a:t>服务范围与责任清晰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B29"/>
                          </a:solidFill>
                        </a:rPr>
                        <a:t>现场履约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B29"/>
                          </a:solidFill>
                        </a:rPr>
                        <a:t>平台协调、动态评分与奖惩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B29"/>
                          </a:solidFill>
                        </a:rPr>
                        <a:t>问题有人响应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0ACD25-90EF-450E-84F2-B3B09544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6E67"/>
                </a:solidFill>
              </a:defRPr>
            </a:defPPr>
            <a:lvl1pPr>
              <a:defRPr sz="1350" b="0">
                <a:solidFill>
                  <a:srgbClr val="776E67"/>
                </a:solidFill>
              </a:defRPr>
            </a:lvl1pPr>
            <a:lvl2pPr>
              <a:defRPr sz="1350" b="0">
                <a:solidFill>
                  <a:srgbClr val="776E67"/>
                </a:solidFill>
              </a:defRPr>
            </a:lvl2pPr>
            <a:lvl3pPr>
              <a:defRPr sz="1350" b="0">
                <a:solidFill>
                  <a:srgbClr val="776E67"/>
                </a:solidFill>
              </a:defRPr>
            </a:lvl3pPr>
            <a:lvl4pPr>
              <a:defRPr sz="1350" b="0">
                <a:solidFill>
                  <a:srgbClr val="776E67"/>
                </a:solidFill>
              </a:defRPr>
            </a:lvl4pPr>
            <a:lvl5pPr>
              <a:defRPr sz="1350" b="0">
                <a:solidFill>
                  <a:srgbClr val="776E67"/>
                </a:solidFill>
              </a:defRPr>
            </a:lvl5pPr>
            <a:lvl6pPr>
              <a:defRPr sz="1350" b="0">
                <a:solidFill>
                  <a:srgbClr val="776E67"/>
                </a:solidFill>
              </a:defRPr>
            </a:lvl6pPr>
            <a:lvl7pPr>
              <a:defRPr sz="1350" b="0">
                <a:solidFill>
                  <a:srgbClr val="776E67"/>
                </a:solidFill>
              </a:defRPr>
            </a:lvl7pPr>
            <a:lvl8pPr>
              <a:defRPr sz="1350" b="0">
                <a:solidFill>
                  <a:srgbClr val="776E67"/>
                </a:solidFill>
              </a:defRPr>
            </a:lvl8pPr>
            <a:lvl9pPr>
              <a:defRPr sz="135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E67"/>
                </a:solidFill>
              </a:defRPr>
            </a:pPr>
            <a:r>
              <a:rPr sz="1350" b="0">
                <a:solidFill>
                  <a:srgbClr val="776E67"/>
                </a:solidFill>
              </a:rPr>
              <a:t>保障金、审核与奖惩为 BP 规划机制，需随交易流程落地</a:t>
            </a:r>
          </a:p>
        </p:txBody>
      </p:sp>
    </p:spTree>
    <p:extLst>
      <p:ext uri="{BB962C8B-B14F-4D97-AF65-F5344CB8AC3E}">
        <p14:creationId xmlns:p14="http://schemas.microsoft.com/office/powerpoint/2010/main" val="20279088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6109E-E56F-4AB4-9BAC-8924AB3E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AI Agent 协助完成婚礼方案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D7216-8518-499C-86DC-B87FB63E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6E67"/>
                </a:solidFill>
              </a:defRPr>
            </a:defPPr>
            <a:lvl1pPr>
              <a:defRPr sz="1200" b="0">
                <a:solidFill>
                  <a:srgbClr val="776E67"/>
                </a:solidFill>
              </a:defRPr>
            </a:lvl1pPr>
            <a:lvl2pPr>
              <a:defRPr sz="1200" b="0">
                <a:solidFill>
                  <a:srgbClr val="776E67"/>
                </a:solidFill>
              </a:defRPr>
            </a:lvl2pPr>
            <a:lvl3pPr>
              <a:defRPr sz="1200" b="0">
                <a:solidFill>
                  <a:srgbClr val="776E67"/>
                </a:solidFill>
              </a:defRPr>
            </a:lvl3pPr>
            <a:lvl4pPr>
              <a:defRPr sz="1200" b="0">
                <a:solidFill>
                  <a:srgbClr val="776E67"/>
                </a:solidFill>
              </a:defRPr>
            </a:lvl4pPr>
            <a:lvl5pPr>
              <a:defRPr sz="1200" b="0">
                <a:solidFill>
                  <a:srgbClr val="776E67"/>
                </a:solidFill>
              </a:defRPr>
            </a:lvl5pPr>
            <a:lvl6pPr>
              <a:defRPr sz="1200" b="0">
                <a:solidFill>
                  <a:srgbClr val="776E67"/>
                </a:solidFill>
              </a:defRPr>
            </a:lvl6pPr>
            <a:lvl7pPr>
              <a:defRPr sz="1200" b="0">
                <a:solidFill>
                  <a:srgbClr val="776E67"/>
                </a:solidFill>
              </a:defRPr>
            </a:lvl7pPr>
            <a:lvl8pPr>
              <a:defRPr sz="1200" b="0">
                <a:solidFill>
                  <a:srgbClr val="776E67"/>
                </a:solidFill>
              </a:defRPr>
            </a:lvl8pPr>
            <a:lvl9pPr>
              <a:defRPr sz="120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76E67"/>
                </a:solidFill>
              </a:defRPr>
            </a:pPr>
            <a:r>
              <a:rPr sz="1200" b="0">
                <a:solidFill>
                  <a:srgbClr val="776E67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37370-D934-4905-BFBB-78FDD204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42D3E"/>
                </a:solidFill>
              </a:defRPr>
            </a:defPPr>
            <a:lvl1pPr>
              <a:defRPr sz="2250" b="1">
                <a:solidFill>
                  <a:srgbClr val="642D3E"/>
                </a:solidFill>
              </a:defRPr>
            </a:lvl1pPr>
            <a:lvl2pPr>
              <a:defRPr sz="2250" b="1">
                <a:solidFill>
                  <a:srgbClr val="642D3E"/>
                </a:solidFill>
              </a:defRPr>
            </a:lvl2pPr>
            <a:lvl3pPr>
              <a:defRPr sz="2250" b="1">
                <a:solidFill>
                  <a:srgbClr val="642D3E"/>
                </a:solidFill>
              </a:defRPr>
            </a:lvl3pPr>
            <a:lvl4pPr>
              <a:defRPr sz="2250" b="1">
                <a:solidFill>
                  <a:srgbClr val="642D3E"/>
                </a:solidFill>
              </a:defRPr>
            </a:lvl4pPr>
            <a:lvl5pPr>
              <a:defRPr sz="2250" b="1">
                <a:solidFill>
                  <a:srgbClr val="642D3E"/>
                </a:solidFill>
              </a:defRPr>
            </a:lvl5pPr>
            <a:lvl6pPr>
              <a:defRPr sz="2250" b="1">
                <a:solidFill>
                  <a:srgbClr val="642D3E"/>
                </a:solidFill>
              </a:defRPr>
            </a:lvl6pPr>
            <a:lvl7pPr>
              <a:defRPr sz="2250" b="1">
                <a:solidFill>
                  <a:srgbClr val="642D3E"/>
                </a:solidFill>
              </a:defRPr>
            </a:lvl7pPr>
            <a:lvl8pPr>
              <a:defRPr sz="2250" b="1">
                <a:solidFill>
                  <a:srgbClr val="642D3E"/>
                </a:solidFill>
              </a:defRPr>
            </a:lvl8pPr>
            <a:lvl9pPr>
              <a:defRPr sz="22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42D3E"/>
                </a:solidFill>
              </a:defRPr>
            </a:pPr>
            <a:r>
              <a:rPr sz="2250" b="1">
                <a:solidFill>
                  <a:srgbClr val="642D3E"/>
                </a:solidFill>
              </a:rPr>
              <a:t>输入需求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341D4-D192-4A24-B5B2-3992EC89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857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02B29"/>
                </a:solidFill>
              </a:defRPr>
            </a:defPPr>
            <a:lvl1pPr>
              <a:defRPr sz="1950" b="0">
                <a:solidFill>
                  <a:srgbClr val="302B29"/>
                </a:solidFill>
              </a:defRPr>
            </a:lvl1pPr>
            <a:lvl2pPr>
              <a:defRPr sz="1950" b="0">
                <a:solidFill>
                  <a:srgbClr val="302B29"/>
                </a:solidFill>
              </a:defRPr>
            </a:lvl2pPr>
            <a:lvl3pPr>
              <a:defRPr sz="1950" b="0">
                <a:solidFill>
                  <a:srgbClr val="302B29"/>
                </a:solidFill>
              </a:defRPr>
            </a:lvl3pPr>
            <a:lvl4pPr>
              <a:defRPr sz="1950" b="0">
                <a:solidFill>
                  <a:srgbClr val="302B29"/>
                </a:solidFill>
              </a:defRPr>
            </a:lvl4pPr>
            <a:lvl5pPr>
              <a:defRPr sz="1950" b="0">
                <a:solidFill>
                  <a:srgbClr val="302B29"/>
                </a:solidFill>
              </a:defRPr>
            </a:lvl5pPr>
            <a:lvl6pPr>
              <a:defRPr sz="1950" b="0">
                <a:solidFill>
                  <a:srgbClr val="302B29"/>
                </a:solidFill>
              </a:defRPr>
            </a:lvl6pPr>
            <a:lvl7pPr>
              <a:defRPr sz="1950" b="0">
                <a:solidFill>
                  <a:srgbClr val="302B29"/>
                </a:solidFill>
              </a:defRPr>
            </a:lvl7pPr>
            <a:lvl8pPr>
              <a:defRPr sz="1950" b="0">
                <a:solidFill>
                  <a:srgbClr val="302B29"/>
                </a:solidFill>
              </a:defRPr>
            </a:lvl8pPr>
            <a:lvl9pPr>
              <a:defRPr sz="195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目的地、预算、人数、风格偏好</a:t>
            </a:r>
          </a:p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通过多轮对话逐步补齐信息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416C9-DD54-4035-AEB4-82649447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907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42D3E"/>
                </a:solidFill>
              </a:defRPr>
            </a:defPPr>
            <a:lvl1pPr>
              <a:defRPr sz="2250" b="1">
                <a:solidFill>
                  <a:srgbClr val="642D3E"/>
                </a:solidFill>
              </a:defRPr>
            </a:lvl1pPr>
            <a:lvl2pPr>
              <a:defRPr sz="2250" b="1">
                <a:solidFill>
                  <a:srgbClr val="642D3E"/>
                </a:solidFill>
              </a:defRPr>
            </a:lvl2pPr>
            <a:lvl3pPr>
              <a:defRPr sz="2250" b="1">
                <a:solidFill>
                  <a:srgbClr val="642D3E"/>
                </a:solidFill>
              </a:defRPr>
            </a:lvl3pPr>
            <a:lvl4pPr>
              <a:defRPr sz="2250" b="1">
                <a:solidFill>
                  <a:srgbClr val="642D3E"/>
                </a:solidFill>
              </a:defRPr>
            </a:lvl4pPr>
            <a:lvl5pPr>
              <a:defRPr sz="2250" b="1">
                <a:solidFill>
                  <a:srgbClr val="642D3E"/>
                </a:solidFill>
              </a:defRPr>
            </a:lvl5pPr>
            <a:lvl6pPr>
              <a:defRPr sz="2250" b="1">
                <a:solidFill>
                  <a:srgbClr val="642D3E"/>
                </a:solidFill>
              </a:defRPr>
            </a:lvl6pPr>
            <a:lvl7pPr>
              <a:defRPr sz="2250" b="1">
                <a:solidFill>
                  <a:srgbClr val="642D3E"/>
                </a:solidFill>
              </a:defRPr>
            </a:lvl7pPr>
            <a:lvl8pPr>
              <a:defRPr sz="2250" b="1">
                <a:solidFill>
                  <a:srgbClr val="642D3E"/>
                </a:solidFill>
              </a:defRPr>
            </a:lvl8pPr>
            <a:lvl9pPr>
              <a:defRPr sz="22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42D3E"/>
                </a:solidFill>
              </a:defRPr>
            </a:pPr>
            <a:r>
              <a:rPr sz="2250" b="1">
                <a:solidFill>
                  <a:srgbClr val="642D3E"/>
                </a:solidFill>
              </a:rPr>
              <a:t>匹配供应商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D2CC8-614A-4429-B74F-BDAD1F0E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857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02B29"/>
                </a:solidFill>
              </a:defRPr>
            </a:defPPr>
            <a:lvl1pPr>
              <a:defRPr sz="1950" b="0">
                <a:solidFill>
                  <a:srgbClr val="302B29"/>
                </a:solidFill>
              </a:defRPr>
            </a:lvl1pPr>
            <a:lvl2pPr>
              <a:defRPr sz="1950" b="0">
                <a:solidFill>
                  <a:srgbClr val="302B29"/>
                </a:solidFill>
              </a:defRPr>
            </a:lvl2pPr>
            <a:lvl3pPr>
              <a:defRPr sz="1950" b="0">
                <a:solidFill>
                  <a:srgbClr val="302B29"/>
                </a:solidFill>
              </a:defRPr>
            </a:lvl3pPr>
            <a:lvl4pPr>
              <a:defRPr sz="1950" b="0">
                <a:solidFill>
                  <a:srgbClr val="302B29"/>
                </a:solidFill>
              </a:defRPr>
            </a:lvl4pPr>
            <a:lvl5pPr>
              <a:defRPr sz="1950" b="0">
                <a:solidFill>
                  <a:srgbClr val="302B29"/>
                </a:solidFill>
              </a:defRPr>
            </a:lvl5pPr>
            <a:lvl6pPr>
              <a:defRPr sz="1950" b="0">
                <a:solidFill>
                  <a:srgbClr val="302B29"/>
                </a:solidFill>
              </a:defRPr>
            </a:lvl6pPr>
            <a:lvl7pPr>
              <a:defRPr sz="1950" b="0">
                <a:solidFill>
                  <a:srgbClr val="302B29"/>
                </a:solidFill>
              </a:defRPr>
            </a:lvl7pPr>
            <a:lvl8pPr>
              <a:defRPr sz="1950" b="0">
                <a:solidFill>
                  <a:srgbClr val="302B29"/>
                </a:solidFill>
              </a:defRPr>
            </a:lvl8pPr>
            <a:lvl9pPr>
              <a:defRPr sz="195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调用场地、摄影、花艺等资源库</a:t>
            </a:r>
          </a:p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跨品类推荐可组合的服务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161F2-DD8A-45CF-82E1-DF2E4598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42D3E"/>
                </a:solidFill>
              </a:defRPr>
            </a:defPPr>
            <a:lvl1pPr>
              <a:defRPr sz="2250" b="1">
                <a:solidFill>
                  <a:srgbClr val="642D3E"/>
                </a:solidFill>
              </a:defRPr>
            </a:lvl1pPr>
            <a:lvl2pPr>
              <a:defRPr sz="2250" b="1">
                <a:solidFill>
                  <a:srgbClr val="642D3E"/>
                </a:solidFill>
              </a:defRPr>
            </a:lvl2pPr>
            <a:lvl3pPr>
              <a:defRPr sz="2250" b="1">
                <a:solidFill>
                  <a:srgbClr val="642D3E"/>
                </a:solidFill>
              </a:defRPr>
            </a:lvl3pPr>
            <a:lvl4pPr>
              <a:defRPr sz="2250" b="1">
                <a:solidFill>
                  <a:srgbClr val="642D3E"/>
                </a:solidFill>
              </a:defRPr>
            </a:lvl4pPr>
            <a:lvl5pPr>
              <a:defRPr sz="2250" b="1">
                <a:solidFill>
                  <a:srgbClr val="642D3E"/>
                </a:solidFill>
              </a:defRPr>
            </a:lvl5pPr>
            <a:lvl6pPr>
              <a:defRPr sz="2250" b="1">
                <a:solidFill>
                  <a:srgbClr val="642D3E"/>
                </a:solidFill>
              </a:defRPr>
            </a:lvl6pPr>
            <a:lvl7pPr>
              <a:defRPr sz="2250" b="1">
                <a:solidFill>
                  <a:srgbClr val="642D3E"/>
                </a:solidFill>
              </a:defRPr>
            </a:lvl7pPr>
            <a:lvl8pPr>
              <a:defRPr sz="2250" b="1">
                <a:solidFill>
                  <a:srgbClr val="642D3E"/>
                </a:solidFill>
              </a:defRPr>
            </a:lvl8pPr>
            <a:lvl9pPr>
              <a:defRPr sz="22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42D3E"/>
                </a:solidFill>
              </a:defRPr>
            </a:pPr>
            <a:r>
              <a:rPr sz="2250" b="1">
                <a:solidFill>
                  <a:srgbClr val="642D3E"/>
                </a:solidFill>
              </a:rPr>
              <a:t>调整方案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6E4A8-F3FC-4C9C-8301-849CFC20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4857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02B29"/>
                </a:solidFill>
              </a:defRPr>
            </a:defPPr>
            <a:lvl1pPr>
              <a:defRPr sz="1950" b="0">
                <a:solidFill>
                  <a:srgbClr val="302B29"/>
                </a:solidFill>
              </a:defRPr>
            </a:lvl1pPr>
            <a:lvl2pPr>
              <a:defRPr sz="1950" b="0">
                <a:solidFill>
                  <a:srgbClr val="302B29"/>
                </a:solidFill>
              </a:defRPr>
            </a:lvl2pPr>
            <a:lvl3pPr>
              <a:defRPr sz="1950" b="0">
                <a:solidFill>
                  <a:srgbClr val="302B29"/>
                </a:solidFill>
              </a:defRPr>
            </a:lvl3pPr>
            <a:lvl4pPr>
              <a:defRPr sz="1950" b="0">
                <a:solidFill>
                  <a:srgbClr val="302B29"/>
                </a:solidFill>
              </a:defRPr>
            </a:lvl4pPr>
            <a:lvl5pPr>
              <a:defRPr sz="1950" b="0">
                <a:solidFill>
                  <a:srgbClr val="302B29"/>
                </a:solidFill>
              </a:defRPr>
            </a:lvl5pPr>
            <a:lvl6pPr>
              <a:defRPr sz="1950" b="0">
                <a:solidFill>
                  <a:srgbClr val="302B29"/>
                </a:solidFill>
              </a:defRPr>
            </a:lvl6pPr>
            <a:lvl7pPr>
              <a:defRPr sz="1950" b="0">
                <a:solidFill>
                  <a:srgbClr val="302B29"/>
                </a:solidFill>
              </a:defRPr>
            </a:lvl7pPr>
            <a:lvl8pPr>
              <a:defRPr sz="1950" b="0">
                <a:solidFill>
                  <a:srgbClr val="302B29"/>
                </a:solidFill>
              </a:defRPr>
            </a:lvl8pPr>
            <a:lvl9pPr>
              <a:defRPr sz="195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用户比较价格与案例效果</a:t>
            </a:r>
          </a:p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保留喜欢的服务，替换其他选项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470E80-1933-4A87-A4F7-C9367976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862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42D3E"/>
                </a:solidFill>
              </a:defRPr>
            </a:defPPr>
            <a:lvl1pPr>
              <a:defRPr sz="2250" b="1">
                <a:solidFill>
                  <a:srgbClr val="642D3E"/>
                </a:solidFill>
              </a:defRPr>
            </a:lvl1pPr>
            <a:lvl2pPr>
              <a:defRPr sz="2250" b="1">
                <a:solidFill>
                  <a:srgbClr val="642D3E"/>
                </a:solidFill>
              </a:defRPr>
            </a:lvl2pPr>
            <a:lvl3pPr>
              <a:defRPr sz="2250" b="1">
                <a:solidFill>
                  <a:srgbClr val="642D3E"/>
                </a:solidFill>
              </a:defRPr>
            </a:lvl3pPr>
            <a:lvl4pPr>
              <a:defRPr sz="2250" b="1">
                <a:solidFill>
                  <a:srgbClr val="642D3E"/>
                </a:solidFill>
              </a:defRPr>
            </a:lvl4pPr>
            <a:lvl5pPr>
              <a:defRPr sz="2250" b="1">
                <a:solidFill>
                  <a:srgbClr val="642D3E"/>
                </a:solidFill>
              </a:defRPr>
            </a:lvl5pPr>
            <a:lvl6pPr>
              <a:defRPr sz="2250" b="1">
                <a:solidFill>
                  <a:srgbClr val="642D3E"/>
                </a:solidFill>
              </a:defRPr>
            </a:lvl6pPr>
            <a:lvl7pPr>
              <a:defRPr sz="2250" b="1">
                <a:solidFill>
                  <a:srgbClr val="642D3E"/>
                </a:solidFill>
              </a:defRPr>
            </a:lvl7pPr>
            <a:lvl8pPr>
              <a:defRPr sz="2250" b="1">
                <a:solidFill>
                  <a:srgbClr val="642D3E"/>
                </a:solidFill>
              </a:defRPr>
            </a:lvl8pPr>
            <a:lvl9pPr>
              <a:defRPr sz="22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42D3E"/>
                </a:solidFill>
              </a:defRPr>
            </a:pPr>
            <a:r>
              <a:rPr sz="2250" b="1">
                <a:solidFill>
                  <a:srgbClr val="642D3E"/>
                </a:solidFill>
              </a:rPr>
              <a:t>积累推荐数据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5BBAF4-C50C-43FC-B876-9E0F91A4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4857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02B29"/>
                </a:solidFill>
              </a:defRPr>
            </a:defPPr>
            <a:lvl1pPr>
              <a:defRPr sz="1950" b="0">
                <a:solidFill>
                  <a:srgbClr val="302B29"/>
                </a:solidFill>
              </a:defRPr>
            </a:lvl1pPr>
            <a:lvl2pPr>
              <a:defRPr sz="1950" b="0">
                <a:solidFill>
                  <a:srgbClr val="302B29"/>
                </a:solidFill>
              </a:defRPr>
            </a:lvl2pPr>
            <a:lvl3pPr>
              <a:defRPr sz="1950" b="0">
                <a:solidFill>
                  <a:srgbClr val="302B29"/>
                </a:solidFill>
              </a:defRPr>
            </a:lvl3pPr>
            <a:lvl4pPr>
              <a:defRPr sz="1950" b="0">
                <a:solidFill>
                  <a:srgbClr val="302B29"/>
                </a:solidFill>
              </a:defRPr>
            </a:lvl4pPr>
            <a:lvl5pPr>
              <a:defRPr sz="1950" b="0">
                <a:solidFill>
                  <a:srgbClr val="302B29"/>
                </a:solidFill>
              </a:defRPr>
            </a:lvl5pPr>
            <a:lvl6pPr>
              <a:defRPr sz="1950" b="0">
                <a:solidFill>
                  <a:srgbClr val="302B29"/>
                </a:solidFill>
              </a:defRPr>
            </a:lvl6pPr>
            <a:lvl7pPr>
              <a:defRPr sz="1950" b="0">
                <a:solidFill>
                  <a:srgbClr val="302B29"/>
                </a:solidFill>
              </a:defRPr>
            </a:lvl7pPr>
            <a:lvl8pPr>
              <a:defRPr sz="1950" b="0">
                <a:solidFill>
                  <a:srgbClr val="302B29"/>
                </a:solidFill>
              </a:defRPr>
            </a:lvl8pPr>
            <a:lvl9pPr>
              <a:defRPr sz="195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记录偏好、预算和方案反馈</a:t>
            </a:r>
          </a:p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逐步完善行业推荐算法</a:t>
            </a:r>
          </a:p>
        </p:txBody>
      </p:sp>
    </p:spTree>
    <p:extLst>
      <p:ext uri="{BB962C8B-B14F-4D97-AF65-F5344CB8AC3E}">
        <p14:creationId xmlns:p14="http://schemas.microsoft.com/office/powerpoint/2010/main" val="20028265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8DFC1-7C1D-4771-BE2F-E549D155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市场规模与初期切入范围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FB3E6-E91C-41FA-AF35-B69C3F15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6E67"/>
                </a:solidFill>
              </a:defRPr>
            </a:defPPr>
            <a:lvl1pPr>
              <a:defRPr sz="1200" b="0">
                <a:solidFill>
                  <a:srgbClr val="776E67"/>
                </a:solidFill>
              </a:defRPr>
            </a:lvl1pPr>
            <a:lvl2pPr>
              <a:defRPr sz="1200" b="0">
                <a:solidFill>
                  <a:srgbClr val="776E67"/>
                </a:solidFill>
              </a:defRPr>
            </a:lvl2pPr>
            <a:lvl3pPr>
              <a:defRPr sz="1200" b="0">
                <a:solidFill>
                  <a:srgbClr val="776E67"/>
                </a:solidFill>
              </a:defRPr>
            </a:lvl3pPr>
            <a:lvl4pPr>
              <a:defRPr sz="1200" b="0">
                <a:solidFill>
                  <a:srgbClr val="776E67"/>
                </a:solidFill>
              </a:defRPr>
            </a:lvl4pPr>
            <a:lvl5pPr>
              <a:defRPr sz="1200" b="0">
                <a:solidFill>
                  <a:srgbClr val="776E67"/>
                </a:solidFill>
              </a:defRPr>
            </a:lvl5pPr>
            <a:lvl6pPr>
              <a:defRPr sz="1200" b="0">
                <a:solidFill>
                  <a:srgbClr val="776E67"/>
                </a:solidFill>
              </a:defRPr>
            </a:lvl6pPr>
            <a:lvl7pPr>
              <a:defRPr sz="1200" b="0">
                <a:solidFill>
                  <a:srgbClr val="776E67"/>
                </a:solidFill>
              </a:defRPr>
            </a:lvl7pPr>
            <a:lvl8pPr>
              <a:defRPr sz="1200" b="0">
                <a:solidFill>
                  <a:srgbClr val="776E67"/>
                </a:solidFill>
              </a:defRPr>
            </a:lvl8pPr>
            <a:lvl9pPr>
              <a:defRPr sz="120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76E67"/>
                </a:solidFill>
              </a:defRPr>
            </a:pPr>
            <a:r>
              <a:rPr sz="1200" b="0">
                <a:solidFill>
                  <a:srgbClr val="776E67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99380-55EF-44C4-96A7-4EA63F0F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5619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0" b="1">
                <a:solidFill>
                  <a:srgbClr val="642D3E"/>
                </a:solidFill>
              </a:defRPr>
            </a:defPPr>
            <a:lvl1pPr>
              <a:defRPr sz="5250" b="1">
                <a:solidFill>
                  <a:srgbClr val="642D3E"/>
                </a:solidFill>
              </a:defRPr>
            </a:lvl1pPr>
            <a:lvl2pPr>
              <a:defRPr sz="5250" b="1">
                <a:solidFill>
                  <a:srgbClr val="642D3E"/>
                </a:solidFill>
              </a:defRPr>
            </a:lvl2pPr>
            <a:lvl3pPr>
              <a:defRPr sz="5250" b="1">
                <a:solidFill>
                  <a:srgbClr val="642D3E"/>
                </a:solidFill>
              </a:defRPr>
            </a:lvl3pPr>
            <a:lvl4pPr>
              <a:defRPr sz="5250" b="1">
                <a:solidFill>
                  <a:srgbClr val="642D3E"/>
                </a:solidFill>
              </a:defRPr>
            </a:lvl4pPr>
            <a:lvl5pPr>
              <a:defRPr sz="5250" b="1">
                <a:solidFill>
                  <a:srgbClr val="642D3E"/>
                </a:solidFill>
              </a:defRPr>
            </a:lvl5pPr>
            <a:lvl6pPr>
              <a:defRPr sz="5250" b="1">
                <a:solidFill>
                  <a:srgbClr val="642D3E"/>
                </a:solidFill>
              </a:defRPr>
            </a:lvl6pPr>
            <a:lvl7pPr>
              <a:defRPr sz="5250" b="1">
                <a:solidFill>
                  <a:srgbClr val="642D3E"/>
                </a:solidFill>
              </a:defRPr>
            </a:lvl7pPr>
            <a:lvl8pPr>
              <a:defRPr sz="5250" b="1">
                <a:solidFill>
                  <a:srgbClr val="642D3E"/>
                </a:solidFill>
              </a:defRPr>
            </a:lvl8pPr>
            <a:lvl9pPr>
              <a:defRPr sz="52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642D3E"/>
                </a:solidFill>
              </a:defRPr>
            </a:pPr>
            <a:r>
              <a:rPr sz="5250" b="1">
                <a:solidFill>
                  <a:srgbClr val="642D3E"/>
                </a:solidFill>
              </a:rPr>
              <a:t>1,500 亿元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1CEC2-4F3F-400A-B5C8-D6888232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02B29"/>
                </a:solidFill>
              </a:defRPr>
            </a:defPPr>
            <a:lvl1pPr>
              <a:defRPr sz="2025" b="0">
                <a:solidFill>
                  <a:srgbClr val="302B29"/>
                </a:solidFill>
              </a:defRPr>
            </a:lvl1pPr>
            <a:lvl2pPr>
              <a:defRPr sz="2025" b="0">
                <a:solidFill>
                  <a:srgbClr val="302B29"/>
                </a:solidFill>
              </a:defRPr>
            </a:lvl2pPr>
            <a:lvl3pPr>
              <a:defRPr sz="2025" b="0">
                <a:solidFill>
                  <a:srgbClr val="302B29"/>
                </a:solidFill>
              </a:defRPr>
            </a:lvl3pPr>
            <a:lvl4pPr>
              <a:defRPr sz="2025" b="0">
                <a:solidFill>
                  <a:srgbClr val="302B29"/>
                </a:solidFill>
              </a:defRPr>
            </a:lvl4pPr>
            <a:lvl5pPr>
              <a:defRPr sz="2025" b="0">
                <a:solidFill>
                  <a:srgbClr val="302B29"/>
                </a:solidFill>
              </a:defRPr>
            </a:lvl5pPr>
            <a:lvl6pPr>
              <a:defRPr sz="2025" b="0">
                <a:solidFill>
                  <a:srgbClr val="302B29"/>
                </a:solidFill>
              </a:defRPr>
            </a:lvl6pPr>
            <a:lvl7pPr>
              <a:defRPr sz="2025" b="0">
                <a:solidFill>
                  <a:srgbClr val="302B29"/>
                </a:solidFill>
              </a:defRPr>
            </a:lvl7pPr>
            <a:lvl8pPr>
              <a:defRPr sz="2025" b="0">
                <a:solidFill>
                  <a:srgbClr val="302B29"/>
                </a:solidFill>
              </a:defRPr>
            </a:lvl8pPr>
            <a:lvl9pPr>
              <a:defRPr sz="2025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02B29"/>
                </a:solidFill>
              </a:defRPr>
            </a:pPr>
            <a:r>
              <a:rPr sz="2025" b="0">
                <a:solidFill>
                  <a:srgbClr val="302B29"/>
                </a:solidFill>
              </a:rPr>
              <a:t>TAM  总可及市场，含蜜月旅行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EA7B78-BAB9-4AB7-AAEC-E9FF8D19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85950"/>
            <a:ext cx="4476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642D3E"/>
                </a:solidFill>
              </a:defRPr>
            </a:defPPr>
            <a:lvl1pPr>
              <a:defRPr sz="4650" b="1">
                <a:solidFill>
                  <a:srgbClr val="642D3E"/>
                </a:solidFill>
              </a:defRPr>
            </a:lvl1pPr>
            <a:lvl2pPr>
              <a:defRPr sz="4650" b="1">
                <a:solidFill>
                  <a:srgbClr val="642D3E"/>
                </a:solidFill>
              </a:defRPr>
            </a:lvl2pPr>
            <a:lvl3pPr>
              <a:defRPr sz="4650" b="1">
                <a:solidFill>
                  <a:srgbClr val="642D3E"/>
                </a:solidFill>
              </a:defRPr>
            </a:lvl3pPr>
            <a:lvl4pPr>
              <a:defRPr sz="4650" b="1">
                <a:solidFill>
                  <a:srgbClr val="642D3E"/>
                </a:solidFill>
              </a:defRPr>
            </a:lvl4pPr>
            <a:lvl5pPr>
              <a:defRPr sz="4650" b="1">
                <a:solidFill>
                  <a:srgbClr val="642D3E"/>
                </a:solidFill>
              </a:defRPr>
            </a:lvl5pPr>
            <a:lvl6pPr>
              <a:defRPr sz="4650" b="1">
                <a:solidFill>
                  <a:srgbClr val="642D3E"/>
                </a:solidFill>
              </a:defRPr>
            </a:lvl6pPr>
            <a:lvl7pPr>
              <a:defRPr sz="4650" b="1">
                <a:solidFill>
                  <a:srgbClr val="642D3E"/>
                </a:solidFill>
              </a:defRPr>
            </a:lvl7pPr>
            <a:lvl8pPr>
              <a:defRPr sz="4650" b="1">
                <a:solidFill>
                  <a:srgbClr val="642D3E"/>
                </a:solidFill>
              </a:defRPr>
            </a:lvl8pPr>
            <a:lvl9pPr>
              <a:defRPr sz="46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642D3E"/>
                </a:solidFill>
              </a:defRPr>
            </a:pPr>
            <a:r>
              <a:rPr sz="4650" b="1">
                <a:solidFill>
                  <a:srgbClr val="642D3E"/>
                </a:solidFill>
              </a:rPr>
              <a:t>500 亿元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F51B6-8C0C-4DA6-9FAF-18231D27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0037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02B29"/>
                </a:solidFill>
              </a:defRPr>
            </a:defPPr>
            <a:lvl1pPr>
              <a:defRPr sz="2025" b="0">
                <a:solidFill>
                  <a:srgbClr val="302B29"/>
                </a:solidFill>
              </a:defRPr>
            </a:lvl1pPr>
            <a:lvl2pPr>
              <a:defRPr sz="2025" b="0">
                <a:solidFill>
                  <a:srgbClr val="302B29"/>
                </a:solidFill>
              </a:defRPr>
            </a:lvl2pPr>
            <a:lvl3pPr>
              <a:defRPr sz="2025" b="0">
                <a:solidFill>
                  <a:srgbClr val="302B29"/>
                </a:solidFill>
              </a:defRPr>
            </a:lvl3pPr>
            <a:lvl4pPr>
              <a:defRPr sz="2025" b="0">
                <a:solidFill>
                  <a:srgbClr val="302B29"/>
                </a:solidFill>
              </a:defRPr>
            </a:lvl4pPr>
            <a:lvl5pPr>
              <a:defRPr sz="2025" b="0">
                <a:solidFill>
                  <a:srgbClr val="302B29"/>
                </a:solidFill>
              </a:defRPr>
            </a:lvl5pPr>
            <a:lvl6pPr>
              <a:defRPr sz="2025" b="0">
                <a:solidFill>
                  <a:srgbClr val="302B29"/>
                </a:solidFill>
              </a:defRPr>
            </a:lvl6pPr>
            <a:lvl7pPr>
              <a:defRPr sz="2025" b="0">
                <a:solidFill>
                  <a:srgbClr val="302B29"/>
                </a:solidFill>
              </a:defRPr>
            </a:lvl7pPr>
            <a:lvl8pPr>
              <a:defRPr sz="2025" b="0">
                <a:solidFill>
                  <a:srgbClr val="302B29"/>
                </a:solidFill>
              </a:defRPr>
            </a:lvl8pPr>
            <a:lvl9pPr>
              <a:defRPr sz="2025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02B29"/>
                </a:solidFill>
              </a:defRPr>
            </a:pPr>
            <a:r>
              <a:rPr sz="2025" b="0">
                <a:solidFill>
                  <a:srgbClr val="302B29"/>
                </a:solidFill>
              </a:rPr>
              <a:t>SAM  目的地婚礼直接消费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DF26B6-649A-4D6C-9032-79CEBAEA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5–8 亿元 / 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95211-C703-4AEA-91CC-1563260A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02B29"/>
                </a:solidFill>
              </a:defRPr>
            </a:defPPr>
            <a:lvl1pPr>
              <a:defRPr sz="2025" b="0">
                <a:solidFill>
                  <a:srgbClr val="302B29"/>
                </a:solidFill>
              </a:defRPr>
            </a:lvl1pPr>
            <a:lvl2pPr>
              <a:defRPr sz="2025" b="0">
                <a:solidFill>
                  <a:srgbClr val="302B29"/>
                </a:solidFill>
              </a:defRPr>
            </a:lvl2pPr>
            <a:lvl3pPr>
              <a:defRPr sz="2025" b="0">
                <a:solidFill>
                  <a:srgbClr val="302B29"/>
                </a:solidFill>
              </a:defRPr>
            </a:lvl3pPr>
            <a:lvl4pPr>
              <a:defRPr sz="2025" b="0">
                <a:solidFill>
                  <a:srgbClr val="302B29"/>
                </a:solidFill>
              </a:defRPr>
            </a:lvl4pPr>
            <a:lvl5pPr>
              <a:defRPr sz="2025" b="0">
                <a:solidFill>
                  <a:srgbClr val="302B29"/>
                </a:solidFill>
              </a:defRPr>
            </a:lvl5pPr>
            <a:lvl6pPr>
              <a:defRPr sz="2025" b="0">
                <a:solidFill>
                  <a:srgbClr val="302B29"/>
                </a:solidFill>
              </a:defRPr>
            </a:lvl6pPr>
            <a:lvl7pPr>
              <a:defRPr sz="2025" b="0">
                <a:solidFill>
                  <a:srgbClr val="302B29"/>
                </a:solidFill>
              </a:defRPr>
            </a:lvl7pPr>
            <a:lvl8pPr>
              <a:defRPr sz="2025" b="0">
                <a:solidFill>
                  <a:srgbClr val="302B29"/>
                </a:solidFill>
              </a:defRPr>
            </a:lvl8pPr>
            <a:lvl9pPr>
              <a:defRPr sz="2025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02B29"/>
                </a:solidFill>
              </a:defRPr>
            </a:pPr>
            <a:r>
              <a:rPr sz="2025" b="0">
                <a:solidFill>
                  <a:srgbClr val="302B29"/>
                </a:solidFill>
              </a:rPr>
              <a:t>SOM  初期可获得市场规模估算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A3F536-9A16-4443-973F-99069684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6E67"/>
                </a:solidFill>
              </a:defRPr>
            </a:defPPr>
            <a:lvl1pPr>
              <a:defRPr sz="1350" b="0">
                <a:solidFill>
                  <a:srgbClr val="776E67"/>
                </a:solidFill>
              </a:defRPr>
            </a:lvl1pPr>
            <a:lvl2pPr>
              <a:defRPr sz="1350" b="0">
                <a:solidFill>
                  <a:srgbClr val="776E67"/>
                </a:solidFill>
              </a:defRPr>
            </a:lvl2pPr>
            <a:lvl3pPr>
              <a:defRPr sz="1350" b="0">
                <a:solidFill>
                  <a:srgbClr val="776E67"/>
                </a:solidFill>
              </a:defRPr>
            </a:lvl3pPr>
            <a:lvl4pPr>
              <a:defRPr sz="1350" b="0">
                <a:solidFill>
                  <a:srgbClr val="776E67"/>
                </a:solidFill>
              </a:defRPr>
            </a:lvl4pPr>
            <a:lvl5pPr>
              <a:defRPr sz="1350" b="0">
                <a:solidFill>
                  <a:srgbClr val="776E67"/>
                </a:solidFill>
              </a:defRPr>
            </a:lvl5pPr>
            <a:lvl6pPr>
              <a:defRPr sz="1350" b="0">
                <a:solidFill>
                  <a:srgbClr val="776E67"/>
                </a:solidFill>
              </a:defRPr>
            </a:lvl6pPr>
            <a:lvl7pPr>
              <a:defRPr sz="1350" b="0">
                <a:solidFill>
                  <a:srgbClr val="776E67"/>
                </a:solidFill>
              </a:defRPr>
            </a:lvl7pPr>
            <a:lvl8pPr>
              <a:defRPr sz="1350" b="0">
                <a:solidFill>
                  <a:srgbClr val="776E67"/>
                </a:solidFill>
              </a:defRPr>
            </a:lvl8pPr>
            <a:lvl9pPr>
              <a:defRPr sz="135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E67"/>
                </a:solidFill>
              </a:defRPr>
            </a:pPr>
            <a:r>
              <a:rPr sz="1350" b="0">
                <a:solidFill>
                  <a:srgbClr val="776E67"/>
                </a:solidFill>
              </a:rPr>
              <a:t>BP 口径：年结婚登记约 700 万对，目的地婚礼占比约 20%–30%</a:t>
            </a:r>
          </a:p>
        </p:txBody>
      </p:sp>
    </p:spTree>
    <p:extLst>
      <p:ext uri="{BB962C8B-B14F-4D97-AF65-F5344CB8AC3E}">
        <p14:creationId xmlns:p14="http://schemas.microsoft.com/office/powerpoint/2010/main" val="7205077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2B0BA-5985-4303-9B4E-E870229B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国内与海外市场分工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CBD25B-666D-4891-B8AE-1409382C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6E67"/>
                </a:solidFill>
              </a:defRPr>
            </a:defPPr>
            <a:lvl1pPr>
              <a:defRPr sz="1200" b="0">
                <a:solidFill>
                  <a:srgbClr val="776E67"/>
                </a:solidFill>
              </a:defRPr>
            </a:lvl1pPr>
            <a:lvl2pPr>
              <a:defRPr sz="1200" b="0">
                <a:solidFill>
                  <a:srgbClr val="776E67"/>
                </a:solidFill>
              </a:defRPr>
            </a:lvl2pPr>
            <a:lvl3pPr>
              <a:defRPr sz="1200" b="0">
                <a:solidFill>
                  <a:srgbClr val="776E67"/>
                </a:solidFill>
              </a:defRPr>
            </a:lvl3pPr>
            <a:lvl4pPr>
              <a:defRPr sz="1200" b="0">
                <a:solidFill>
                  <a:srgbClr val="776E67"/>
                </a:solidFill>
              </a:defRPr>
            </a:lvl4pPr>
            <a:lvl5pPr>
              <a:defRPr sz="1200" b="0">
                <a:solidFill>
                  <a:srgbClr val="776E67"/>
                </a:solidFill>
              </a:defRPr>
            </a:lvl5pPr>
            <a:lvl6pPr>
              <a:defRPr sz="1200" b="0">
                <a:solidFill>
                  <a:srgbClr val="776E67"/>
                </a:solidFill>
              </a:defRPr>
            </a:lvl6pPr>
            <a:lvl7pPr>
              <a:defRPr sz="1200" b="0">
                <a:solidFill>
                  <a:srgbClr val="776E67"/>
                </a:solidFill>
              </a:defRPr>
            </a:lvl7pPr>
            <a:lvl8pPr>
              <a:defRPr sz="1200" b="0">
                <a:solidFill>
                  <a:srgbClr val="776E67"/>
                </a:solidFill>
              </a:defRPr>
            </a:lvl8pPr>
            <a:lvl9pPr>
              <a:defRPr sz="120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76E67"/>
                </a:solidFill>
              </a:defRPr>
            </a:pPr>
            <a:r>
              <a:rPr sz="1200" b="0">
                <a:solidFill>
                  <a:srgbClr val="776E67"/>
                </a:solidFill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168432-D521-4FA0-9C35-078C921BBD44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314825"/>
                <a:gridCol w="4314825"/>
              </a:tblGrid>
              <a:tr h="685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</a:rPr>
                        <a:t>维度</a:t>
                      </a:r>
                    </a:p>
                  </a:txBody>
                  <a:tcPr marL="91440" marR="91440" marT="45720" marB="45720">
                    <a:solidFill>
                      <a:srgbClr val="642D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</a:rPr>
                        <a:t>国内目的地婚礼</a:t>
                      </a:r>
                    </a:p>
                  </a:txBody>
                  <a:tcPr marL="91440" marR="91440" marT="45720" marB="45720">
                    <a:solidFill>
                      <a:srgbClr val="642D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</a:rPr>
                        <a:t>海外目的地婚礼</a:t>
                      </a:r>
                    </a:p>
                  </a:txBody>
                  <a:tcPr marL="91440" marR="91440" marT="45720" marB="45720">
                    <a:solidFill>
                      <a:srgbClr val="642D3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302B29"/>
                          </a:solidFill>
                        </a:rPr>
                        <a:t>需求特征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302B29"/>
                          </a:solidFill>
                        </a:rPr>
                        <a:t>规模较大，接受度较高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302B29"/>
                          </a:solidFill>
                        </a:rPr>
                        <a:t>规模较小，客单价较高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302B29"/>
                          </a:solidFill>
                        </a:rPr>
                        <a:t>客单价区间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302B29"/>
                          </a:solidFill>
                        </a:rPr>
                        <a:t>1.5–3 万元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302B29"/>
                          </a:solidFill>
                        </a:rPr>
                        <a:t>6–15 万元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302B29"/>
                          </a:solidFill>
                        </a:rPr>
                        <a:t>市场角色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302B29"/>
                          </a:solidFill>
                        </a:rPr>
                        <a:t>扩大用户基础与品牌认知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302B29"/>
                          </a:solidFill>
                        </a:rPr>
                        <a:t>贡献高客单价业务收入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302B29"/>
                          </a:solidFill>
                        </a:rPr>
                        <a:t>供给重点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302B29"/>
                          </a:solidFill>
                        </a:rPr>
                        <a:t>低门槛活动和可选服务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302B29"/>
                          </a:solidFill>
                        </a:rPr>
                        <a:t>海外商家与特色服务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61DD2-8898-4543-844A-0B16EB44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6E67"/>
                </a:solidFill>
              </a:defRPr>
            </a:defPPr>
            <a:lvl1pPr>
              <a:defRPr sz="1350" b="0">
                <a:solidFill>
                  <a:srgbClr val="776E67"/>
                </a:solidFill>
              </a:defRPr>
            </a:lvl1pPr>
            <a:lvl2pPr>
              <a:defRPr sz="1350" b="0">
                <a:solidFill>
                  <a:srgbClr val="776E67"/>
                </a:solidFill>
              </a:defRPr>
            </a:lvl2pPr>
            <a:lvl3pPr>
              <a:defRPr sz="1350" b="0">
                <a:solidFill>
                  <a:srgbClr val="776E67"/>
                </a:solidFill>
              </a:defRPr>
            </a:lvl3pPr>
            <a:lvl4pPr>
              <a:defRPr sz="1350" b="0">
                <a:solidFill>
                  <a:srgbClr val="776E67"/>
                </a:solidFill>
              </a:defRPr>
            </a:lvl4pPr>
            <a:lvl5pPr>
              <a:defRPr sz="1350" b="0">
                <a:solidFill>
                  <a:srgbClr val="776E67"/>
                </a:solidFill>
              </a:defRPr>
            </a:lvl5pPr>
            <a:lvl6pPr>
              <a:defRPr sz="1350" b="0">
                <a:solidFill>
                  <a:srgbClr val="776E67"/>
                </a:solidFill>
              </a:defRPr>
            </a:lvl6pPr>
            <a:lvl7pPr>
              <a:defRPr sz="1350" b="0">
                <a:solidFill>
                  <a:srgbClr val="776E67"/>
                </a:solidFill>
              </a:defRPr>
            </a:lvl7pPr>
            <a:lvl8pPr>
              <a:defRPr sz="1350" b="0">
                <a:solidFill>
                  <a:srgbClr val="776E67"/>
                </a:solidFill>
              </a:defRPr>
            </a:lvl8pPr>
            <a:lvl9pPr>
              <a:defRPr sz="135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E67"/>
                </a:solidFill>
              </a:defRPr>
            </a:pPr>
            <a:r>
              <a:rPr sz="1350" b="0">
                <a:solidFill>
                  <a:srgbClr val="776E67"/>
                </a:solidFill>
              </a:rPr>
              <a:t>战略假设：国内拓展用户，海外提高单笔贡献，需分别验证成交效率</a:t>
            </a:r>
          </a:p>
        </p:txBody>
      </p:sp>
    </p:spTree>
    <p:extLst>
      <p:ext uri="{BB962C8B-B14F-4D97-AF65-F5344CB8AC3E}">
        <p14:creationId xmlns:p14="http://schemas.microsoft.com/office/powerpoint/2010/main" val="20607038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C93E2-833F-41FD-BE4E-F9A49A3D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交易抽佣与增值服务收入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30F14-1FF5-4455-A7C4-582A627E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6E67"/>
                </a:solidFill>
              </a:defRPr>
            </a:defPPr>
            <a:lvl1pPr>
              <a:defRPr sz="1200" b="0">
                <a:solidFill>
                  <a:srgbClr val="776E67"/>
                </a:solidFill>
              </a:defRPr>
            </a:lvl1pPr>
            <a:lvl2pPr>
              <a:defRPr sz="1200" b="0">
                <a:solidFill>
                  <a:srgbClr val="776E67"/>
                </a:solidFill>
              </a:defRPr>
            </a:lvl2pPr>
            <a:lvl3pPr>
              <a:defRPr sz="1200" b="0">
                <a:solidFill>
                  <a:srgbClr val="776E67"/>
                </a:solidFill>
              </a:defRPr>
            </a:lvl3pPr>
            <a:lvl4pPr>
              <a:defRPr sz="1200" b="0">
                <a:solidFill>
                  <a:srgbClr val="776E67"/>
                </a:solidFill>
              </a:defRPr>
            </a:lvl4pPr>
            <a:lvl5pPr>
              <a:defRPr sz="1200" b="0">
                <a:solidFill>
                  <a:srgbClr val="776E67"/>
                </a:solidFill>
              </a:defRPr>
            </a:lvl5pPr>
            <a:lvl6pPr>
              <a:defRPr sz="1200" b="0">
                <a:solidFill>
                  <a:srgbClr val="776E67"/>
                </a:solidFill>
              </a:defRPr>
            </a:lvl6pPr>
            <a:lvl7pPr>
              <a:defRPr sz="1200" b="0">
                <a:solidFill>
                  <a:srgbClr val="776E67"/>
                </a:solidFill>
              </a:defRPr>
            </a:lvl7pPr>
            <a:lvl8pPr>
              <a:defRPr sz="1200" b="0">
                <a:solidFill>
                  <a:srgbClr val="776E67"/>
                </a:solidFill>
              </a:defRPr>
            </a:lvl8pPr>
            <a:lvl9pPr>
              <a:defRPr sz="120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76E67"/>
                </a:solidFill>
              </a:defRPr>
            </a:pPr>
            <a:r>
              <a:rPr sz="1200" b="0">
                <a:solidFill>
                  <a:srgbClr val="776E67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2F07B-0733-42DC-AED8-345A78DE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642D3E"/>
                </a:solidFill>
              </a:defRPr>
            </a:defPPr>
            <a:lvl1pPr>
              <a:defRPr sz="3000" b="1">
                <a:solidFill>
                  <a:srgbClr val="642D3E"/>
                </a:solidFill>
              </a:defRPr>
            </a:lvl1pPr>
            <a:lvl2pPr>
              <a:defRPr sz="3000" b="1">
                <a:solidFill>
                  <a:srgbClr val="642D3E"/>
                </a:solidFill>
              </a:defRPr>
            </a:lvl2pPr>
            <a:lvl3pPr>
              <a:defRPr sz="3000" b="1">
                <a:solidFill>
                  <a:srgbClr val="642D3E"/>
                </a:solidFill>
              </a:defRPr>
            </a:lvl3pPr>
            <a:lvl4pPr>
              <a:defRPr sz="3000" b="1">
                <a:solidFill>
                  <a:srgbClr val="642D3E"/>
                </a:solidFill>
              </a:defRPr>
            </a:lvl4pPr>
            <a:lvl5pPr>
              <a:defRPr sz="3000" b="1">
                <a:solidFill>
                  <a:srgbClr val="642D3E"/>
                </a:solidFill>
              </a:defRPr>
            </a:lvl5pPr>
            <a:lvl6pPr>
              <a:defRPr sz="3000" b="1">
                <a:solidFill>
                  <a:srgbClr val="642D3E"/>
                </a:solidFill>
              </a:defRPr>
            </a:lvl6pPr>
            <a:lvl7pPr>
              <a:defRPr sz="3000" b="1">
                <a:solidFill>
                  <a:srgbClr val="642D3E"/>
                </a:solidFill>
              </a:defRPr>
            </a:lvl7pPr>
            <a:lvl8pPr>
              <a:defRPr sz="3000" b="1">
                <a:solidFill>
                  <a:srgbClr val="642D3E"/>
                </a:solidFill>
              </a:defRPr>
            </a:lvl8pPr>
            <a:lvl9pPr>
              <a:defRPr sz="30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642D3E"/>
                </a:solidFill>
              </a:defRPr>
            </a:pPr>
            <a:r>
              <a:rPr sz="3000" b="1">
                <a:solidFill>
                  <a:srgbClr val="642D3E"/>
                </a:solidFill>
              </a:rPr>
              <a:t>交易抽佣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14E86-D73C-4BFA-93C7-E4BCD948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953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302B29"/>
                </a:solidFill>
              </a:defRPr>
            </a:defPPr>
            <a:lvl1pPr>
              <a:defRPr sz="3450" b="1">
                <a:solidFill>
                  <a:srgbClr val="302B29"/>
                </a:solidFill>
              </a:defRPr>
            </a:lvl1pPr>
            <a:lvl2pPr>
              <a:defRPr sz="3450" b="1">
                <a:solidFill>
                  <a:srgbClr val="302B29"/>
                </a:solidFill>
              </a:defRPr>
            </a:lvl2pPr>
            <a:lvl3pPr>
              <a:defRPr sz="3450" b="1">
                <a:solidFill>
                  <a:srgbClr val="302B29"/>
                </a:solidFill>
              </a:defRPr>
            </a:lvl3pPr>
            <a:lvl4pPr>
              <a:defRPr sz="3450" b="1">
                <a:solidFill>
                  <a:srgbClr val="302B29"/>
                </a:solidFill>
              </a:defRPr>
            </a:lvl4pPr>
            <a:lvl5pPr>
              <a:defRPr sz="3450" b="1">
                <a:solidFill>
                  <a:srgbClr val="302B29"/>
                </a:solidFill>
              </a:defRPr>
            </a:lvl5pPr>
            <a:lvl6pPr>
              <a:defRPr sz="3450" b="1">
                <a:solidFill>
                  <a:srgbClr val="302B29"/>
                </a:solidFill>
              </a:defRPr>
            </a:lvl6pPr>
            <a:lvl7pPr>
              <a:defRPr sz="3450" b="1">
                <a:solidFill>
                  <a:srgbClr val="302B29"/>
                </a:solidFill>
              </a:defRPr>
            </a:lvl7pPr>
            <a:lvl8pPr>
              <a:defRPr sz="3450" b="1">
                <a:solidFill>
                  <a:srgbClr val="302B29"/>
                </a:solidFill>
              </a:defRPr>
            </a:lvl8pPr>
            <a:lvl9pPr>
              <a:defRPr sz="3450" b="1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302B29"/>
                </a:solidFill>
              </a:defRPr>
            </a:pPr>
            <a:r>
              <a:rPr sz="3450" b="1">
                <a:solidFill>
                  <a:srgbClr val="302B29"/>
                </a:solidFill>
              </a:rPr>
              <a:t>国内 5%–8%</a:t>
            </a:r>
          </a:p>
          <a:p xmlns:a="http://schemas.openxmlformats.org/drawingml/2006/main">
            <a:pPr>
              <a:defRPr sz="3450" b="1">
                <a:solidFill>
                  <a:srgbClr val="302B29"/>
                </a:solidFill>
              </a:defRPr>
            </a:pPr>
            <a:r>
              <a:rPr sz="3450" b="1">
                <a:solidFill>
                  <a:srgbClr val="302B29"/>
                </a:solidFill>
              </a:rPr>
              <a:t>海外 8%–12%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BFB36D-FD8F-4F18-A942-C3FF5389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4953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02B29"/>
                </a:solidFill>
              </a:defRPr>
            </a:defPPr>
            <a:lvl1pPr>
              <a:defRPr sz="2100" b="0">
                <a:solidFill>
                  <a:srgbClr val="302B29"/>
                </a:solidFill>
              </a:defRPr>
            </a:lvl1pPr>
            <a:lvl2pPr>
              <a:defRPr sz="2100" b="0">
                <a:solidFill>
                  <a:srgbClr val="302B29"/>
                </a:solidFill>
              </a:defRPr>
            </a:lvl2pPr>
            <a:lvl3pPr>
              <a:defRPr sz="2100" b="0">
                <a:solidFill>
                  <a:srgbClr val="302B29"/>
                </a:solidFill>
              </a:defRPr>
            </a:lvl3pPr>
            <a:lvl4pPr>
              <a:defRPr sz="2100" b="0">
                <a:solidFill>
                  <a:srgbClr val="302B29"/>
                </a:solidFill>
              </a:defRPr>
            </a:lvl4pPr>
            <a:lvl5pPr>
              <a:defRPr sz="2100" b="0">
                <a:solidFill>
                  <a:srgbClr val="302B29"/>
                </a:solidFill>
              </a:defRPr>
            </a:lvl5pPr>
            <a:lvl6pPr>
              <a:defRPr sz="2100" b="0">
                <a:solidFill>
                  <a:srgbClr val="302B29"/>
                </a:solidFill>
              </a:defRPr>
            </a:lvl6pPr>
            <a:lvl7pPr>
              <a:defRPr sz="2100" b="0">
                <a:solidFill>
                  <a:srgbClr val="302B29"/>
                </a:solidFill>
              </a:defRPr>
            </a:lvl7pPr>
            <a:lvl8pPr>
              <a:defRPr sz="2100" b="0">
                <a:solidFill>
                  <a:srgbClr val="302B29"/>
                </a:solidFill>
              </a:defRPr>
            </a:lvl8pPr>
            <a:lvl9pPr>
              <a:defRPr sz="210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B29"/>
                </a:solidFill>
              </a:defRPr>
            </a:pPr>
            <a:r>
              <a:rPr sz="2100" b="0">
                <a:solidFill>
                  <a:srgbClr val="302B29"/>
                </a:solidFill>
              </a:rPr>
              <a:t>按实际成交金额收取佣金</a:t>
            </a:r>
          </a:p>
          <a:p xmlns:a="http://schemas.openxmlformats.org/drawingml/2006/main">
            <a:pPr>
              <a:defRPr sz="2100" b="0">
                <a:solidFill>
                  <a:srgbClr val="302B29"/>
                </a:solidFill>
              </a:defRPr>
            </a:pPr>
            <a:r>
              <a:rPr sz="2100" b="0">
                <a:solidFill>
                  <a:srgbClr val="302B29"/>
                </a:solidFill>
              </a:rPr>
              <a:t>基础服务带动平台交易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E5756-A0E2-4937-BFD5-9D9DBEDC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71650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642D3E"/>
                </a:solidFill>
              </a:defRPr>
            </a:defPPr>
            <a:lvl1pPr>
              <a:defRPr sz="3000" b="1">
                <a:solidFill>
                  <a:srgbClr val="642D3E"/>
                </a:solidFill>
              </a:defRPr>
            </a:lvl1pPr>
            <a:lvl2pPr>
              <a:defRPr sz="3000" b="1">
                <a:solidFill>
                  <a:srgbClr val="642D3E"/>
                </a:solidFill>
              </a:defRPr>
            </a:lvl2pPr>
            <a:lvl3pPr>
              <a:defRPr sz="3000" b="1">
                <a:solidFill>
                  <a:srgbClr val="642D3E"/>
                </a:solidFill>
              </a:defRPr>
            </a:lvl3pPr>
            <a:lvl4pPr>
              <a:defRPr sz="3000" b="1">
                <a:solidFill>
                  <a:srgbClr val="642D3E"/>
                </a:solidFill>
              </a:defRPr>
            </a:lvl4pPr>
            <a:lvl5pPr>
              <a:defRPr sz="3000" b="1">
                <a:solidFill>
                  <a:srgbClr val="642D3E"/>
                </a:solidFill>
              </a:defRPr>
            </a:lvl5pPr>
            <a:lvl6pPr>
              <a:defRPr sz="3000" b="1">
                <a:solidFill>
                  <a:srgbClr val="642D3E"/>
                </a:solidFill>
              </a:defRPr>
            </a:lvl6pPr>
            <a:lvl7pPr>
              <a:defRPr sz="3000" b="1">
                <a:solidFill>
                  <a:srgbClr val="642D3E"/>
                </a:solidFill>
              </a:defRPr>
            </a:lvl7pPr>
            <a:lvl8pPr>
              <a:defRPr sz="3000" b="1">
                <a:solidFill>
                  <a:srgbClr val="642D3E"/>
                </a:solidFill>
              </a:defRPr>
            </a:lvl8pPr>
            <a:lvl9pPr>
              <a:defRPr sz="30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642D3E"/>
                </a:solidFill>
              </a:defRPr>
            </a:pPr>
            <a:r>
              <a:rPr sz="3000" b="1">
                <a:solidFill>
                  <a:srgbClr val="642D3E"/>
                </a:solidFill>
              </a:rPr>
              <a:t>增值服务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130ED-A60F-43B8-AC70-E8774485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4857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02B29"/>
                </a:solidFill>
              </a:defRPr>
            </a:defPPr>
            <a:lvl1pPr>
              <a:defRPr sz="2325" b="0">
                <a:solidFill>
                  <a:srgbClr val="302B29"/>
                </a:solidFill>
              </a:defRPr>
            </a:lvl1pPr>
            <a:lvl2pPr>
              <a:defRPr sz="2325" b="0">
                <a:solidFill>
                  <a:srgbClr val="302B29"/>
                </a:solidFill>
              </a:defRPr>
            </a:lvl2pPr>
            <a:lvl3pPr>
              <a:defRPr sz="2325" b="0">
                <a:solidFill>
                  <a:srgbClr val="302B29"/>
                </a:solidFill>
              </a:defRPr>
            </a:lvl3pPr>
            <a:lvl4pPr>
              <a:defRPr sz="2325" b="0">
                <a:solidFill>
                  <a:srgbClr val="302B29"/>
                </a:solidFill>
              </a:defRPr>
            </a:lvl4pPr>
            <a:lvl5pPr>
              <a:defRPr sz="2325" b="0">
                <a:solidFill>
                  <a:srgbClr val="302B29"/>
                </a:solidFill>
              </a:defRPr>
            </a:lvl5pPr>
            <a:lvl6pPr>
              <a:defRPr sz="2325" b="0">
                <a:solidFill>
                  <a:srgbClr val="302B29"/>
                </a:solidFill>
              </a:defRPr>
            </a:lvl6pPr>
            <a:lvl7pPr>
              <a:defRPr sz="2325" b="0">
                <a:solidFill>
                  <a:srgbClr val="302B29"/>
                </a:solidFill>
              </a:defRPr>
            </a:lvl7pPr>
            <a:lvl8pPr>
              <a:defRPr sz="2325" b="0">
                <a:solidFill>
                  <a:srgbClr val="302B29"/>
                </a:solidFill>
              </a:defRPr>
            </a:lvl8pPr>
            <a:lvl9pPr>
              <a:defRPr sz="2325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02B29"/>
                </a:solidFill>
              </a:defRPr>
            </a:pPr>
            <a:r>
              <a:rPr sz="2325" b="0">
                <a:solidFill>
                  <a:srgbClr val="302B29"/>
                </a:solidFill>
              </a:rPr>
              <a:t>花艺布置、乐队、牧师仪式</a:t>
            </a:r>
          </a:p>
          <a:p xmlns:a="http://schemas.openxmlformats.org/drawingml/2006/main">
            <a:pPr>
              <a:defRPr sz="2325" b="0">
                <a:solidFill>
                  <a:srgbClr val="302B29"/>
                </a:solidFill>
              </a:defRPr>
            </a:pPr>
            <a:r>
              <a:rPr sz="2325" b="0">
                <a:solidFill>
                  <a:srgbClr val="302B29"/>
                </a:solidFill>
              </a:rPr>
              <a:t>翻译陪同、签证协助等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71FB5-F0AC-4105-9D2E-FCD3ADCD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485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02B29"/>
                </a:solidFill>
              </a:defRPr>
            </a:defPPr>
            <a:lvl1pPr>
              <a:defRPr sz="2100" b="0">
                <a:solidFill>
                  <a:srgbClr val="302B29"/>
                </a:solidFill>
              </a:defRPr>
            </a:lvl1pPr>
            <a:lvl2pPr>
              <a:defRPr sz="2100" b="0">
                <a:solidFill>
                  <a:srgbClr val="302B29"/>
                </a:solidFill>
              </a:defRPr>
            </a:lvl2pPr>
            <a:lvl3pPr>
              <a:defRPr sz="2100" b="0">
                <a:solidFill>
                  <a:srgbClr val="302B29"/>
                </a:solidFill>
              </a:defRPr>
            </a:lvl3pPr>
            <a:lvl4pPr>
              <a:defRPr sz="2100" b="0">
                <a:solidFill>
                  <a:srgbClr val="302B29"/>
                </a:solidFill>
              </a:defRPr>
            </a:lvl4pPr>
            <a:lvl5pPr>
              <a:defRPr sz="2100" b="0">
                <a:solidFill>
                  <a:srgbClr val="302B29"/>
                </a:solidFill>
              </a:defRPr>
            </a:lvl5pPr>
            <a:lvl6pPr>
              <a:defRPr sz="2100" b="0">
                <a:solidFill>
                  <a:srgbClr val="302B29"/>
                </a:solidFill>
              </a:defRPr>
            </a:lvl6pPr>
            <a:lvl7pPr>
              <a:defRPr sz="2100" b="0">
                <a:solidFill>
                  <a:srgbClr val="302B29"/>
                </a:solidFill>
              </a:defRPr>
            </a:lvl7pPr>
            <a:lvl8pPr>
              <a:defRPr sz="2100" b="0">
                <a:solidFill>
                  <a:srgbClr val="302B29"/>
                </a:solidFill>
              </a:defRPr>
            </a:lvl8pPr>
            <a:lvl9pPr>
              <a:defRPr sz="210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B29"/>
                </a:solidFill>
              </a:defRPr>
            </a:pPr>
            <a:r>
              <a:rPr sz="2100" b="0">
                <a:solidFill>
                  <a:srgbClr val="302B29"/>
                </a:solidFill>
              </a:rPr>
              <a:t>结合场景推荐可选服务</a:t>
            </a:r>
          </a:p>
          <a:p xmlns:a="http://schemas.openxmlformats.org/drawingml/2006/main">
            <a:pPr>
              <a:defRPr sz="2100" b="0">
                <a:solidFill>
                  <a:srgbClr val="302B29"/>
                </a:solidFill>
              </a:defRPr>
            </a:pPr>
            <a:r>
              <a:rPr sz="2100" b="0">
                <a:solidFill>
                  <a:srgbClr val="302B29"/>
                </a:solidFill>
              </a:rPr>
              <a:t>用户自主选购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DFC3F0-5F29-4A6F-AC3C-31FA0DED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6E67"/>
                </a:solidFill>
              </a:defRPr>
            </a:defPPr>
            <a:lvl1pPr>
              <a:defRPr sz="1350" b="0">
                <a:solidFill>
                  <a:srgbClr val="776E67"/>
                </a:solidFill>
              </a:defRPr>
            </a:lvl1pPr>
            <a:lvl2pPr>
              <a:defRPr sz="1350" b="0">
                <a:solidFill>
                  <a:srgbClr val="776E67"/>
                </a:solidFill>
              </a:defRPr>
            </a:lvl2pPr>
            <a:lvl3pPr>
              <a:defRPr sz="1350" b="0">
                <a:solidFill>
                  <a:srgbClr val="776E67"/>
                </a:solidFill>
              </a:defRPr>
            </a:lvl3pPr>
            <a:lvl4pPr>
              <a:defRPr sz="1350" b="0">
                <a:solidFill>
                  <a:srgbClr val="776E67"/>
                </a:solidFill>
              </a:defRPr>
            </a:lvl4pPr>
            <a:lvl5pPr>
              <a:defRPr sz="1350" b="0">
                <a:solidFill>
                  <a:srgbClr val="776E67"/>
                </a:solidFill>
              </a:defRPr>
            </a:lvl5pPr>
            <a:lvl6pPr>
              <a:defRPr sz="1350" b="0">
                <a:solidFill>
                  <a:srgbClr val="776E67"/>
                </a:solidFill>
              </a:defRPr>
            </a:lvl6pPr>
            <a:lvl7pPr>
              <a:defRPr sz="1350" b="0">
                <a:solidFill>
                  <a:srgbClr val="776E67"/>
                </a:solidFill>
              </a:defRPr>
            </a:lvl7pPr>
            <a:lvl8pPr>
              <a:defRPr sz="1350" b="0">
                <a:solidFill>
                  <a:srgbClr val="776E67"/>
                </a:solidFill>
              </a:defRPr>
            </a:lvl8pPr>
            <a:lvl9pPr>
              <a:defRPr sz="135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E67"/>
                </a:solidFill>
              </a:defRPr>
            </a:pPr>
            <a:r>
              <a:rPr sz="1350" b="0">
                <a:solidFill>
                  <a:srgbClr val="776E67"/>
                </a:solidFill>
              </a:rPr>
              <a:t>抽佣比例与利润水平为 BP 预估，尚需真实订单验证</a:t>
            </a:r>
          </a:p>
        </p:txBody>
      </p:sp>
    </p:spTree>
    <p:extLst>
      <p:ext uri="{BB962C8B-B14F-4D97-AF65-F5344CB8AC3E}">
        <p14:creationId xmlns:p14="http://schemas.microsoft.com/office/powerpoint/2010/main" val="10834178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B2A22-BE99-4234-805A-D821B562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单位经济模型：国内与海外对比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B15EE-2AB8-4B5E-B64E-52482D05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6E67"/>
                </a:solidFill>
              </a:defRPr>
            </a:defPPr>
            <a:lvl1pPr>
              <a:defRPr sz="1200" b="0">
                <a:solidFill>
                  <a:srgbClr val="776E67"/>
                </a:solidFill>
              </a:defRPr>
            </a:lvl1pPr>
            <a:lvl2pPr>
              <a:defRPr sz="1200" b="0">
                <a:solidFill>
                  <a:srgbClr val="776E67"/>
                </a:solidFill>
              </a:defRPr>
            </a:lvl2pPr>
            <a:lvl3pPr>
              <a:defRPr sz="1200" b="0">
                <a:solidFill>
                  <a:srgbClr val="776E67"/>
                </a:solidFill>
              </a:defRPr>
            </a:lvl3pPr>
            <a:lvl4pPr>
              <a:defRPr sz="1200" b="0">
                <a:solidFill>
                  <a:srgbClr val="776E67"/>
                </a:solidFill>
              </a:defRPr>
            </a:lvl4pPr>
            <a:lvl5pPr>
              <a:defRPr sz="1200" b="0">
                <a:solidFill>
                  <a:srgbClr val="776E67"/>
                </a:solidFill>
              </a:defRPr>
            </a:lvl5pPr>
            <a:lvl6pPr>
              <a:defRPr sz="1200" b="0">
                <a:solidFill>
                  <a:srgbClr val="776E67"/>
                </a:solidFill>
              </a:defRPr>
            </a:lvl6pPr>
            <a:lvl7pPr>
              <a:defRPr sz="1200" b="0">
                <a:solidFill>
                  <a:srgbClr val="776E67"/>
                </a:solidFill>
              </a:defRPr>
            </a:lvl7pPr>
            <a:lvl8pPr>
              <a:defRPr sz="1200" b="0">
                <a:solidFill>
                  <a:srgbClr val="776E67"/>
                </a:solidFill>
              </a:defRPr>
            </a:lvl8pPr>
            <a:lvl9pPr>
              <a:defRPr sz="120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76E67"/>
                </a:solidFill>
              </a:defRPr>
            </a:pPr>
            <a:r>
              <a:rPr sz="1200" b="0">
                <a:solidFill>
                  <a:srgbClr val="776E67"/>
                </a:solidFill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55E1D-BE74-4AD6-A89F-CACD33E87A77}"/>
              </a:ext>
            </a:extLst>
          </p:cNvPr>
          <p:cNvGraphicFramePr/>
          <p:nvPr/>
        </p:nvGraphicFramePr>
        <p:xfrm>
          <a:off xmlns:a="http://schemas.openxmlformats.org/drawingml/2006/main" x="685800" y="1628775"/>
          <a:ext xmlns:a="http://schemas.openxmlformats.org/drawingml/2006/main" cx="108204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3028950"/>
                <a:gridCol w="3028950"/>
              </a:tblGrid>
              <a:tr h="56333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单笔成交指标</a:t>
                      </a:r>
                    </a:p>
                  </a:txBody>
                  <a:tcPr marL="91440" marR="91440" marT="45720" marB="45720">
                    <a:solidFill>
                      <a:srgbClr val="642D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国内</a:t>
                      </a:r>
                    </a:p>
                  </a:txBody>
                  <a:tcPr marL="91440" marR="91440" marT="45720" marB="45720">
                    <a:solidFill>
                      <a:srgbClr val="642D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海外</a:t>
                      </a:r>
                    </a:p>
                  </a:txBody>
                  <a:tcPr marL="91440" marR="91440" marT="45720" marB="45720">
                    <a:solidFill>
                      <a:srgbClr val="642D3E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29"/>
                          </a:solidFill>
                        </a:rPr>
                        <a:t>基础套餐客单价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29"/>
                          </a:solidFill>
                        </a:rPr>
                        <a:t>约 2 万元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29"/>
                          </a:solidFill>
                        </a:rPr>
                        <a:t>约 8 万元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29"/>
                          </a:solidFill>
                        </a:rPr>
                        <a:t>抽佣收入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29"/>
                          </a:solidFill>
                        </a:rPr>
                        <a:t>0.10–0.16 万元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29"/>
                          </a:solidFill>
                        </a:rPr>
                        <a:t>0.64–0.96 万元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29"/>
                          </a:solidFill>
                        </a:rPr>
                        <a:t>增值服务客单价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29"/>
                          </a:solidFill>
                        </a:rPr>
                        <a:t>0.5–1 万元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29"/>
                          </a:solidFill>
                        </a:rPr>
                        <a:t>2–4 万元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29"/>
                          </a:solidFill>
                        </a:rPr>
                        <a:t>增值服务利润率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29"/>
                          </a:solidFill>
                        </a:rPr>
                        <a:t>30%–50%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29"/>
                          </a:solidFill>
                        </a:rPr>
                        <a:t>40%–60%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29"/>
                          </a:solidFill>
                        </a:rPr>
                        <a:t>增值服务毛利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29"/>
                          </a:solidFill>
                        </a:rPr>
                        <a:t>0.15–0.50 万元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29"/>
                          </a:solidFill>
                        </a:rPr>
                        <a:t>0.80–2.40 万元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29"/>
                          </a:solidFill>
                        </a:rPr>
                        <a:t>综合毛利（BP 预估）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29"/>
                          </a:solidFill>
                        </a:rPr>
                        <a:t>约 0.3–0.7 万元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29"/>
                          </a:solidFill>
                        </a:rPr>
                        <a:t>约 1.5–3.4 万元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933E81-8CC8-4308-864E-830D83E3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6E67"/>
                </a:solidFill>
              </a:defRPr>
            </a:defPPr>
            <a:lvl1pPr>
              <a:defRPr sz="1350" b="0">
                <a:solidFill>
                  <a:srgbClr val="776E67"/>
                </a:solidFill>
              </a:defRPr>
            </a:lvl1pPr>
            <a:lvl2pPr>
              <a:defRPr sz="1350" b="0">
                <a:solidFill>
                  <a:srgbClr val="776E67"/>
                </a:solidFill>
              </a:defRPr>
            </a:lvl2pPr>
            <a:lvl3pPr>
              <a:defRPr sz="1350" b="0">
                <a:solidFill>
                  <a:srgbClr val="776E67"/>
                </a:solidFill>
              </a:defRPr>
            </a:lvl3pPr>
            <a:lvl4pPr>
              <a:defRPr sz="1350" b="0">
                <a:solidFill>
                  <a:srgbClr val="776E67"/>
                </a:solidFill>
              </a:defRPr>
            </a:lvl4pPr>
            <a:lvl5pPr>
              <a:defRPr sz="1350" b="0">
                <a:solidFill>
                  <a:srgbClr val="776E67"/>
                </a:solidFill>
              </a:defRPr>
            </a:lvl5pPr>
            <a:lvl6pPr>
              <a:defRPr sz="1350" b="0">
                <a:solidFill>
                  <a:srgbClr val="776E67"/>
                </a:solidFill>
              </a:defRPr>
            </a:lvl6pPr>
            <a:lvl7pPr>
              <a:defRPr sz="1350" b="0">
                <a:solidFill>
                  <a:srgbClr val="776E67"/>
                </a:solidFill>
              </a:defRPr>
            </a:lvl7pPr>
            <a:lvl8pPr>
              <a:defRPr sz="1350" b="0">
                <a:solidFill>
                  <a:srgbClr val="776E67"/>
                </a:solidFill>
              </a:defRPr>
            </a:lvl8pPr>
            <a:lvl9pPr>
              <a:defRPr sz="135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E67"/>
                </a:solidFill>
              </a:defRPr>
            </a:pPr>
            <a:r>
              <a:rPr sz="1350" b="0">
                <a:solidFill>
                  <a:srgbClr val="776E67"/>
                </a:solidFill>
              </a:rPr>
              <a:t>币种：人民币。综合毛利沿用 BP 近似值，未扣除获客、履约及固定费用</a:t>
            </a:r>
          </a:p>
        </p:txBody>
      </p:sp>
    </p:spTree>
    <p:extLst>
      <p:ext uri="{BB962C8B-B14F-4D97-AF65-F5344CB8AC3E}">
        <p14:creationId xmlns:p14="http://schemas.microsoft.com/office/powerpoint/2010/main" val="13906876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C561B6-B588-4CD3-A2B9-65653B10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获客围绕真实案例与特色活动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87A27-D6A3-4301-9058-102AA22C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6E67"/>
                </a:solidFill>
              </a:defRPr>
            </a:defPPr>
            <a:lvl1pPr>
              <a:defRPr sz="1200" b="0">
                <a:solidFill>
                  <a:srgbClr val="776E67"/>
                </a:solidFill>
              </a:defRPr>
            </a:lvl1pPr>
            <a:lvl2pPr>
              <a:defRPr sz="1200" b="0">
                <a:solidFill>
                  <a:srgbClr val="776E67"/>
                </a:solidFill>
              </a:defRPr>
            </a:lvl2pPr>
            <a:lvl3pPr>
              <a:defRPr sz="1200" b="0">
                <a:solidFill>
                  <a:srgbClr val="776E67"/>
                </a:solidFill>
              </a:defRPr>
            </a:lvl3pPr>
            <a:lvl4pPr>
              <a:defRPr sz="1200" b="0">
                <a:solidFill>
                  <a:srgbClr val="776E67"/>
                </a:solidFill>
              </a:defRPr>
            </a:lvl4pPr>
            <a:lvl5pPr>
              <a:defRPr sz="1200" b="0">
                <a:solidFill>
                  <a:srgbClr val="776E67"/>
                </a:solidFill>
              </a:defRPr>
            </a:lvl5pPr>
            <a:lvl6pPr>
              <a:defRPr sz="1200" b="0">
                <a:solidFill>
                  <a:srgbClr val="776E67"/>
                </a:solidFill>
              </a:defRPr>
            </a:lvl6pPr>
            <a:lvl7pPr>
              <a:defRPr sz="1200" b="0">
                <a:solidFill>
                  <a:srgbClr val="776E67"/>
                </a:solidFill>
              </a:defRPr>
            </a:lvl7pPr>
            <a:lvl8pPr>
              <a:defRPr sz="1200" b="0">
                <a:solidFill>
                  <a:srgbClr val="776E67"/>
                </a:solidFill>
              </a:defRPr>
            </a:lvl8pPr>
            <a:lvl9pPr>
              <a:defRPr sz="120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76E67"/>
                </a:solidFill>
              </a:defRPr>
            </a:pPr>
            <a:r>
              <a:rPr sz="1200" b="0">
                <a:solidFill>
                  <a:srgbClr val="776E67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7047FF-B62B-460B-A3AB-6265CB6E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42D3E"/>
                </a:solidFill>
              </a:defRPr>
            </a:defPPr>
            <a:lvl1pPr>
              <a:defRPr sz="2250" b="1">
                <a:solidFill>
                  <a:srgbClr val="642D3E"/>
                </a:solidFill>
              </a:defRPr>
            </a:lvl1pPr>
            <a:lvl2pPr>
              <a:defRPr sz="2250" b="1">
                <a:solidFill>
                  <a:srgbClr val="642D3E"/>
                </a:solidFill>
              </a:defRPr>
            </a:lvl2pPr>
            <a:lvl3pPr>
              <a:defRPr sz="2250" b="1">
                <a:solidFill>
                  <a:srgbClr val="642D3E"/>
                </a:solidFill>
              </a:defRPr>
            </a:lvl3pPr>
            <a:lvl4pPr>
              <a:defRPr sz="2250" b="1">
                <a:solidFill>
                  <a:srgbClr val="642D3E"/>
                </a:solidFill>
              </a:defRPr>
            </a:lvl4pPr>
            <a:lvl5pPr>
              <a:defRPr sz="2250" b="1">
                <a:solidFill>
                  <a:srgbClr val="642D3E"/>
                </a:solidFill>
              </a:defRPr>
            </a:lvl5pPr>
            <a:lvl6pPr>
              <a:defRPr sz="2250" b="1">
                <a:solidFill>
                  <a:srgbClr val="642D3E"/>
                </a:solidFill>
              </a:defRPr>
            </a:lvl6pPr>
            <a:lvl7pPr>
              <a:defRPr sz="2250" b="1">
                <a:solidFill>
                  <a:srgbClr val="642D3E"/>
                </a:solidFill>
              </a:defRPr>
            </a:lvl7pPr>
            <a:lvl8pPr>
              <a:defRPr sz="2250" b="1">
                <a:solidFill>
                  <a:srgbClr val="642D3E"/>
                </a:solidFill>
              </a:defRPr>
            </a:lvl8pPr>
            <a:lvl9pPr>
              <a:defRPr sz="22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42D3E"/>
                </a:solidFill>
              </a:defRPr>
            </a:pPr>
            <a:r>
              <a:rPr sz="2250" b="1">
                <a:solidFill>
                  <a:srgbClr val="642D3E"/>
                </a:solidFill>
              </a:rPr>
              <a:t>用户侧：案例内容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22633-81F2-486F-A77B-E8DC4CCC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857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02B29"/>
                </a:solidFill>
              </a:defRPr>
            </a:defPPr>
            <a:lvl1pPr>
              <a:defRPr sz="1950" b="0">
                <a:solidFill>
                  <a:srgbClr val="302B29"/>
                </a:solidFill>
              </a:defRPr>
            </a:lvl1pPr>
            <a:lvl2pPr>
              <a:defRPr sz="1950" b="0">
                <a:solidFill>
                  <a:srgbClr val="302B29"/>
                </a:solidFill>
              </a:defRPr>
            </a:lvl2pPr>
            <a:lvl3pPr>
              <a:defRPr sz="1950" b="0">
                <a:solidFill>
                  <a:srgbClr val="302B29"/>
                </a:solidFill>
              </a:defRPr>
            </a:lvl3pPr>
            <a:lvl4pPr>
              <a:defRPr sz="1950" b="0">
                <a:solidFill>
                  <a:srgbClr val="302B29"/>
                </a:solidFill>
              </a:defRPr>
            </a:lvl4pPr>
            <a:lvl5pPr>
              <a:defRPr sz="1950" b="0">
                <a:solidFill>
                  <a:srgbClr val="302B29"/>
                </a:solidFill>
              </a:defRPr>
            </a:lvl5pPr>
            <a:lvl6pPr>
              <a:defRPr sz="1950" b="0">
                <a:solidFill>
                  <a:srgbClr val="302B29"/>
                </a:solidFill>
              </a:defRPr>
            </a:lvl6pPr>
            <a:lvl7pPr>
              <a:defRPr sz="1950" b="0">
                <a:solidFill>
                  <a:srgbClr val="302B29"/>
                </a:solidFill>
              </a:defRPr>
            </a:lvl7pPr>
            <a:lvl8pPr>
              <a:defRPr sz="1950" b="0">
                <a:solidFill>
                  <a:srgbClr val="302B29"/>
                </a:solidFill>
              </a:defRPr>
            </a:lvl8pPr>
            <a:lvl9pPr>
              <a:defRPr sz="195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发布婚礼实拍、备婚攻略与费用拆解</a:t>
            </a:r>
          </a:p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通过案例引导用户了解服务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D1259F-7F6C-4DAB-9B01-C1DDA13D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42D3E"/>
                </a:solidFill>
              </a:defRPr>
            </a:defPPr>
            <a:lvl1pPr>
              <a:defRPr sz="2250" b="1">
                <a:solidFill>
                  <a:srgbClr val="642D3E"/>
                </a:solidFill>
              </a:defRPr>
            </a:lvl1pPr>
            <a:lvl2pPr>
              <a:defRPr sz="2250" b="1">
                <a:solidFill>
                  <a:srgbClr val="642D3E"/>
                </a:solidFill>
              </a:defRPr>
            </a:lvl2pPr>
            <a:lvl3pPr>
              <a:defRPr sz="2250" b="1">
                <a:solidFill>
                  <a:srgbClr val="642D3E"/>
                </a:solidFill>
              </a:defRPr>
            </a:lvl3pPr>
            <a:lvl4pPr>
              <a:defRPr sz="2250" b="1">
                <a:solidFill>
                  <a:srgbClr val="642D3E"/>
                </a:solidFill>
              </a:defRPr>
            </a:lvl4pPr>
            <a:lvl5pPr>
              <a:defRPr sz="2250" b="1">
                <a:solidFill>
                  <a:srgbClr val="642D3E"/>
                </a:solidFill>
              </a:defRPr>
            </a:lvl5pPr>
            <a:lvl6pPr>
              <a:defRPr sz="2250" b="1">
                <a:solidFill>
                  <a:srgbClr val="642D3E"/>
                </a:solidFill>
              </a:defRPr>
            </a:lvl6pPr>
            <a:lvl7pPr>
              <a:defRPr sz="2250" b="1">
                <a:solidFill>
                  <a:srgbClr val="642D3E"/>
                </a:solidFill>
              </a:defRPr>
            </a:lvl7pPr>
            <a:lvl8pPr>
              <a:defRPr sz="2250" b="1">
                <a:solidFill>
                  <a:srgbClr val="642D3E"/>
                </a:solidFill>
              </a:defRPr>
            </a:lvl8pPr>
            <a:lvl9pPr>
              <a:defRPr sz="22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42D3E"/>
                </a:solidFill>
              </a:defRPr>
            </a:pPr>
            <a:r>
              <a:rPr sz="2250" b="1">
                <a:solidFill>
                  <a:srgbClr val="642D3E"/>
                </a:solidFill>
              </a:rPr>
              <a:t>商家侧：主动招募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ACDC9-ED84-456F-8D6A-4F0C4CD4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24100"/>
            <a:ext cx="4857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02B29"/>
                </a:solidFill>
              </a:defRPr>
            </a:defPPr>
            <a:lvl1pPr>
              <a:defRPr sz="1950" b="0">
                <a:solidFill>
                  <a:srgbClr val="302B29"/>
                </a:solidFill>
              </a:defRPr>
            </a:lvl1pPr>
            <a:lvl2pPr>
              <a:defRPr sz="1950" b="0">
                <a:solidFill>
                  <a:srgbClr val="302B29"/>
                </a:solidFill>
              </a:defRPr>
            </a:lvl2pPr>
            <a:lvl3pPr>
              <a:defRPr sz="1950" b="0">
                <a:solidFill>
                  <a:srgbClr val="302B29"/>
                </a:solidFill>
              </a:defRPr>
            </a:lvl3pPr>
            <a:lvl4pPr>
              <a:defRPr sz="1950" b="0">
                <a:solidFill>
                  <a:srgbClr val="302B29"/>
                </a:solidFill>
              </a:defRPr>
            </a:lvl4pPr>
            <a:lvl5pPr>
              <a:defRPr sz="1950" b="0">
                <a:solidFill>
                  <a:srgbClr val="302B29"/>
                </a:solidFill>
              </a:defRPr>
            </a:lvl5pPr>
            <a:lvl6pPr>
              <a:defRPr sz="1950" b="0">
                <a:solidFill>
                  <a:srgbClr val="302B29"/>
                </a:solidFill>
              </a:defRPr>
            </a:lvl6pPr>
            <a:lvl7pPr>
              <a:defRPr sz="1950" b="0">
                <a:solidFill>
                  <a:srgbClr val="302B29"/>
                </a:solidFill>
              </a:defRPr>
            </a:lvl7pPr>
            <a:lvl8pPr>
              <a:defRPr sz="1950" b="0">
                <a:solidFill>
                  <a:srgbClr val="302B29"/>
                </a:solidFill>
              </a:defRPr>
            </a:lvl8pPr>
            <a:lvl9pPr>
              <a:defRPr sz="195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搜集独立摄影师、妆造师和设计师</a:t>
            </a:r>
          </a:p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免费入驻，以案例展示提供曝光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4308F-4BEA-46BA-8041-60037B30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642D3E"/>
                </a:solidFill>
              </a:defRPr>
            </a:defPPr>
            <a:lvl1pPr>
              <a:defRPr sz="2625" b="1">
                <a:solidFill>
                  <a:srgbClr val="642D3E"/>
                </a:solidFill>
              </a:defRPr>
            </a:lvl1pPr>
            <a:lvl2pPr>
              <a:defRPr sz="2625" b="1">
                <a:solidFill>
                  <a:srgbClr val="642D3E"/>
                </a:solidFill>
              </a:defRPr>
            </a:lvl2pPr>
            <a:lvl3pPr>
              <a:defRPr sz="2625" b="1">
                <a:solidFill>
                  <a:srgbClr val="642D3E"/>
                </a:solidFill>
              </a:defRPr>
            </a:lvl3pPr>
            <a:lvl4pPr>
              <a:defRPr sz="2625" b="1">
                <a:solidFill>
                  <a:srgbClr val="642D3E"/>
                </a:solidFill>
              </a:defRPr>
            </a:lvl4pPr>
            <a:lvl5pPr>
              <a:defRPr sz="2625" b="1">
                <a:solidFill>
                  <a:srgbClr val="642D3E"/>
                </a:solidFill>
              </a:defRPr>
            </a:lvl5pPr>
            <a:lvl6pPr>
              <a:defRPr sz="2625" b="1">
                <a:solidFill>
                  <a:srgbClr val="642D3E"/>
                </a:solidFill>
              </a:defRPr>
            </a:lvl6pPr>
            <a:lvl7pPr>
              <a:defRPr sz="2625" b="1">
                <a:solidFill>
                  <a:srgbClr val="642D3E"/>
                </a:solidFill>
              </a:defRPr>
            </a:lvl7pPr>
            <a:lvl8pPr>
              <a:defRPr sz="2625" b="1">
                <a:solidFill>
                  <a:srgbClr val="642D3E"/>
                </a:solidFill>
              </a:defRPr>
            </a:lvl8pPr>
            <a:lvl9pPr>
              <a:defRPr sz="2625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642D3E"/>
                </a:solidFill>
              </a:defRPr>
            </a:pPr>
            <a:r>
              <a:rPr sz="2625" b="1">
                <a:solidFill>
                  <a:srgbClr val="642D3E"/>
                </a:solidFill>
              </a:rPr>
              <a:t>案例内容     用户咨询     服务成交     新案例积累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A4666-39CB-430D-BC50-07287909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02B29"/>
                </a:solidFill>
              </a:defRPr>
            </a:defPPr>
            <a:lvl1pPr>
              <a:defRPr sz="2175" b="0">
                <a:solidFill>
                  <a:srgbClr val="302B29"/>
                </a:solidFill>
              </a:defRPr>
            </a:lvl1pPr>
            <a:lvl2pPr>
              <a:defRPr sz="2175" b="0">
                <a:solidFill>
                  <a:srgbClr val="302B29"/>
                </a:solidFill>
              </a:defRPr>
            </a:lvl2pPr>
            <a:lvl3pPr>
              <a:defRPr sz="2175" b="0">
                <a:solidFill>
                  <a:srgbClr val="302B29"/>
                </a:solidFill>
              </a:defRPr>
            </a:lvl3pPr>
            <a:lvl4pPr>
              <a:defRPr sz="2175" b="0">
                <a:solidFill>
                  <a:srgbClr val="302B29"/>
                </a:solidFill>
              </a:defRPr>
            </a:lvl4pPr>
            <a:lvl5pPr>
              <a:defRPr sz="2175" b="0">
                <a:solidFill>
                  <a:srgbClr val="302B29"/>
                </a:solidFill>
              </a:defRPr>
            </a:lvl5pPr>
            <a:lvl6pPr>
              <a:defRPr sz="2175" b="0">
                <a:solidFill>
                  <a:srgbClr val="302B29"/>
                </a:solidFill>
              </a:defRPr>
            </a:lvl6pPr>
            <a:lvl7pPr>
              <a:defRPr sz="2175" b="0">
                <a:solidFill>
                  <a:srgbClr val="302B29"/>
                </a:solidFill>
              </a:defRPr>
            </a:lvl7pPr>
            <a:lvl8pPr>
              <a:defRPr sz="2175" b="0">
                <a:solidFill>
                  <a:srgbClr val="302B29"/>
                </a:solidFill>
              </a:defRPr>
            </a:lvl8pPr>
            <a:lvl9pPr>
              <a:defRPr sz="2175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02B29"/>
                </a:solidFill>
              </a:defRPr>
            </a:pPr>
            <a:r>
              <a:rPr sz="2175" b="0">
                <a:solidFill>
                  <a:srgbClr val="302B29"/>
                </a:solidFill>
              </a:rPr>
              <a:t>联合商家推出特色活动，降低首次尝试门槛</a:t>
            </a:r>
          </a:p>
        </p:txBody>
      </p:sp>
    </p:spTree>
    <p:extLst>
      <p:ext uri="{BB962C8B-B14F-4D97-AF65-F5344CB8AC3E}">
        <p14:creationId xmlns:p14="http://schemas.microsoft.com/office/powerpoint/2010/main" val="4229762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EA57A-7ACA-44A7-93D5-9EB25C08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竞争格局与平台定位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E3F4C-1A0A-4C55-8534-38E8C8ED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6E67"/>
                </a:solidFill>
              </a:defRPr>
            </a:defPPr>
            <a:lvl1pPr>
              <a:defRPr sz="1200" b="0">
                <a:solidFill>
                  <a:srgbClr val="776E67"/>
                </a:solidFill>
              </a:defRPr>
            </a:lvl1pPr>
            <a:lvl2pPr>
              <a:defRPr sz="1200" b="0">
                <a:solidFill>
                  <a:srgbClr val="776E67"/>
                </a:solidFill>
              </a:defRPr>
            </a:lvl2pPr>
            <a:lvl3pPr>
              <a:defRPr sz="1200" b="0">
                <a:solidFill>
                  <a:srgbClr val="776E67"/>
                </a:solidFill>
              </a:defRPr>
            </a:lvl3pPr>
            <a:lvl4pPr>
              <a:defRPr sz="1200" b="0">
                <a:solidFill>
                  <a:srgbClr val="776E67"/>
                </a:solidFill>
              </a:defRPr>
            </a:lvl4pPr>
            <a:lvl5pPr>
              <a:defRPr sz="1200" b="0">
                <a:solidFill>
                  <a:srgbClr val="776E67"/>
                </a:solidFill>
              </a:defRPr>
            </a:lvl5pPr>
            <a:lvl6pPr>
              <a:defRPr sz="1200" b="0">
                <a:solidFill>
                  <a:srgbClr val="776E67"/>
                </a:solidFill>
              </a:defRPr>
            </a:lvl6pPr>
            <a:lvl7pPr>
              <a:defRPr sz="1200" b="0">
                <a:solidFill>
                  <a:srgbClr val="776E67"/>
                </a:solidFill>
              </a:defRPr>
            </a:lvl7pPr>
            <a:lvl8pPr>
              <a:defRPr sz="1200" b="0">
                <a:solidFill>
                  <a:srgbClr val="776E67"/>
                </a:solidFill>
              </a:defRPr>
            </a:lvl8pPr>
            <a:lvl9pPr>
              <a:defRPr sz="120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76E67"/>
                </a:solidFill>
              </a:defRPr>
            </a:pPr>
            <a:r>
              <a:rPr sz="1200" b="0">
                <a:solidFill>
                  <a:srgbClr val="776E67"/>
                </a:solidFill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8C6A6-B1D9-4015-996F-EC97AEA3567A}"/>
              </a:ext>
            </a:extLst>
          </p:cNvPr>
          <p:cNvGraphicFramePr/>
          <p:nvPr/>
        </p:nvGraphicFramePr>
        <p:xfrm>
          <a:off xmlns:a="http://schemas.openxmlformats.org/drawingml/2006/main" x="685800" y="1666875"/>
          <a:ext xmlns:a="http://schemas.openxmlformats.org/drawingml/2006/main" cx="108204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714750"/>
                <a:gridCol w="4533900"/>
              </a:tblGrid>
              <a:tr h="72771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玩家类型</a:t>
                      </a:r>
                    </a:p>
                  </a:txBody>
                  <a:tcPr marL="91440" marR="91440" marT="45720" marB="45720">
                    <a:solidFill>
                      <a:srgbClr val="642D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典型代表</a:t>
                      </a:r>
                    </a:p>
                  </a:txBody>
                  <a:tcPr marL="91440" marR="91440" marT="45720" marB="45720">
                    <a:solidFill>
                      <a:srgbClr val="642D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BP 提出的切入空间</a:t>
                      </a:r>
                    </a:p>
                  </a:txBody>
                  <a:tcPr marL="91440" marR="91440" marT="45720" marB="45720">
                    <a:solidFill>
                      <a:srgbClr val="642D3E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B29"/>
                          </a:solidFill>
                        </a:rPr>
                        <a:t>综合婚礼平台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B29"/>
                          </a:solidFill>
                        </a:rPr>
                        <a:t>婚礼纪、婚礼猫、到喜啦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B29"/>
                          </a:solidFill>
                        </a:rPr>
                        <a:t>目的地场景与全品类组合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B29"/>
                          </a:solidFill>
                        </a:rPr>
                        <a:t>传统定制机构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B29"/>
                          </a:solidFill>
                        </a:rPr>
                        <a:t>线下婚礼定制机构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B29"/>
                          </a:solidFill>
                        </a:rPr>
                        <a:t>服务数字化与选择透明度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B29"/>
                          </a:solidFill>
                        </a:rPr>
                        <a:t>内容平台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B29"/>
                          </a:solidFill>
                        </a:rPr>
                        <a:t>小红书、抖音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B29"/>
                          </a:solidFill>
                        </a:rPr>
                        <a:t>连接内容发现与服务决策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B29"/>
                          </a:solidFill>
                        </a:rPr>
                        <a:t>海外婚礼平台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B29"/>
                          </a:solidFill>
                        </a:rPr>
                        <a:t>The Knot、WeddingWire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B29"/>
                          </a:solidFill>
                        </a:rPr>
                        <a:t>中国用户的语言与服务需求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679DC-34F9-4FA1-B69E-837E8914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6E67"/>
                </a:solidFill>
              </a:defRPr>
            </a:defPPr>
            <a:lvl1pPr>
              <a:defRPr sz="1350" b="0">
                <a:solidFill>
                  <a:srgbClr val="776E67"/>
                </a:solidFill>
              </a:defRPr>
            </a:lvl1pPr>
            <a:lvl2pPr>
              <a:defRPr sz="1350" b="0">
                <a:solidFill>
                  <a:srgbClr val="776E67"/>
                </a:solidFill>
              </a:defRPr>
            </a:lvl2pPr>
            <a:lvl3pPr>
              <a:defRPr sz="1350" b="0">
                <a:solidFill>
                  <a:srgbClr val="776E67"/>
                </a:solidFill>
              </a:defRPr>
            </a:lvl3pPr>
            <a:lvl4pPr>
              <a:defRPr sz="1350" b="0">
                <a:solidFill>
                  <a:srgbClr val="776E67"/>
                </a:solidFill>
              </a:defRPr>
            </a:lvl4pPr>
            <a:lvl5pPr>
              <a:defRPr sz="1350" b="0">
                <a:solidFill>
                  <a:srgbClr val="776E67"/>
                </a:solidFill>
              </a:defRPr>
            </a:lvl5pPr>
            <a:lvl6pPr>
              <a:defRPr sz="1350" b="0">
                <a:solidFill>
                  <a:srgbClr val="776E67"/>
                </a:solidFill>
              </a:defRPr>
            </a:lvl6pPr>
            <a:lvl7pPr>
              <a:defRPr sz="1350" b="0">
                <a:solidFill>
                  <a:srgbClr val="776E67"/>
                </a:solidFill>
              </a:defRPr>
            </a:lvl7pPr>
            <a:lvl8pPr>
              <a:defRPr sz="1350" b="0">
                <a:solidFill>
                  <a:srgbClr val="776E67"/>
                </a:solidFill>
              </a:defRPr>
            </a:lvl8pPr>
            <a:lvl9pPr>
              <a:defRPr sz="135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E67"/>
                </a:solidFill>
              </a:defRPr>
            </a:pPr>
            <a:r>
              <a:rPr sz="1350" b="0">
                <a:solidFill>
                  <a:srgbClr val="776E67"/>
                </a:solidFill>
              </a:rPr>
              <a:t>竞品判断沿用 BP，为定位假设，未作为实时竞品能力核验</a:t>
            </a:r>
          </a:p>
        </p:txBody>
      </p:sp>
    </p:spTree>
    <p:extLst>
      <p:ext uri="{BB962C8B-B14F-4D97-AF65-F5344CB8AC3E}">
        <p14:creationId xmlns:p14="http://schemas.microsoft.com/office/powerpoint/2010/main" val="15642268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DF43B-834B-455F-B8F8-292524D2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竞争优势来自供给与决策数据积累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13436-5D16-4C2E-B6AE-B28C4E1B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6E67"/>
                </a:solidFill>
              </a:defRPr>
            </a:defPPr>
            <a:lvl1pPr>
              <a:defRPr sz="1200" b="0">
                <a:solidFill>
                  <a:srgbClr val="776E67"/>
                </a:solidFill>
              </a:defRPr>
            </a:lvl1pPr>
            <a:lvl2pPr>
              <a:defRPr sz="1200" b="0">
                <a:solidFill>
                  <a:srgbClr val="776E67"/>
                </a:solidFill>
              </a:defRPr>
            </a:lvl2pPr>
            <a:lvl3pPr>
              <a:defRPr sz="1200" b="0">
                <a:solidFill>
                  <a:srgbClr val="776E67"/>
                </a:solidFill>
              </a:defRPr>
            </a:lvl3pPr>
            <a:lvl4pPr>
              <a:defRPr sz="1200" b="0">
                <a:solidFill>
                  <a:srgbClr val="776E67"/>
                </a:solidFill>
              </a:defRPr>
            </a:lvl4pPr>
            <a:lvl5pPr>
              <a:defRPr sz="1200" b="0">
                <a:solidFill>
                  <a:srgbClr val="776E67"/>
                </a:solidFill>
              </a:defRPr>
            </a:lvl5pPr>
            <a:lvl6pPr>
              <a:defRPr sz="1200" b="0">
                <a:solidFill>
                  <a:srgbClr val="776E67"/>
                </a:solidFill>
              </a:defRPr>
            </a:lvl6pPr>
            <a:lvl7pPr>
              <a:defRPr sz="1200" b="0">
                <a:solidFill>
                  <a:srgbClr val="776E67"/>
                </a:solidFill>
              </a:defRPr>
            </a:lvl7pPr>
            <a:lvl8pPr>
              <a:defRPr sz="1200" b="0">
                <a:solidFill>
                  <a:srgbClr val="776E67"/>
                </a:solidFill>
              </a:defRPr>
            </a:lvl8pPr>
            <a:lvl9pPr>
              <a:defRPr sz="120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76E67"/>
                </a:solidFill>
              </a:defRPr>
            </a:pPr>
            <a:r>
              <a:rPr sz="1200" b="0">
                <a:solidFill>
                  <a:srgbClr val="776E67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A37C73-0CCB-4F14-8979-2FA2BD72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42D3E"/>
                </a:solidFill>
              </a:defRPr>
            </a:defPPr>
            <a:lvl1pPr>
              <a:defRPr sz="2250" b="1">
                <a:solidFill>
                  <a:srgbClr val="642D3E"/>
                </a:solidFill>
              </a:defRPr>
            </a:lvl1pPr>
            <a:lvl2pPr>
              <a:defRPr sz="2250" b="1">
                <a:solidFill>
                  <a:srgbClr val="642D3E"/>
                </a:solidFill>
              </a:defRPr>
            </a:lvl2pPr>
            <a:lvl3pPr>
              <a:defRPr sz="2250" b="1">
                <a:solidFill>
                  <a:srgbClr val="642D3E"/>
                </a:solidFill>
              </a:defRPr>
            </a:lvl3pPr>
            <a:lvl4pPr>
              <a:defRPr sz="2250" b="1">
                <a:solidFill>
                  <a:srgbClr val="642D3E"/>
                </a:solidFill>
              </a:defRPr>
            </a:lvl4pPr>
            <a:lvl5pPr>
              <a:defRPr sz="2250" b="1">
                <a:solidFill>
                  <a:srgbClr val="642D3E"/>
                </a:solidFill>
              </a:defRPr>
            </a:lvl5pPr>
            <a:lvl6pPr>
              <a:defRPr sz="2250" b="1">
                <a:solidFill>
                  <a:srgbClr val="642D3E"/>
                </a:solidFill>
              </a:defRPr>
            </a:lvl6pPr>
            <a:lvl7pPr>
              <a:defRPr sz="2250" b="1">
                <a:solidFill>
                  <a:srgbClr val="642D3E"/>
                </a:solidFill>
              </a:defRPr>
            </a:lvl7pPr>
            <a:lvl8pPr>
              <a:defRPr sz="2250" b="1">
                <a:solidFill>
                  <a:srgbClr val="642D3E"/>
                </a:solidFill>
              </a:defRPr>
            </a:lvl8pPr>
            <a:lvl9pPr>
              <a:defRPr sz="22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42D3E"/>
                </a:solidFill>
              </a:defRPr>
            </a:pPr>
            <a:r>
              <a:rPr sz="2250" b="1">
                <a:solidFill>
                  <a:srgbClr val="642D3E"/>
                </a:solidFill>
              </a:rPr>
              <a:t>独立商家供给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993317-410C-4B61-8F86-A00115F9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857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02B29"/>
                </a:solidFill>
              </a:defRPr>
            </a:defPPr>
            <a:lvl1pPr>
              <a:defRPr sz="1950" b="0">
                <a:solidFill>
                  <a:srgbClr val="302B29"/>
                </a:solidFill>
              </a:defRPr>
            </a:lvl1pPr>
            <a:lvl2pPr>
              <a:defRPr sz="1950" b="0">
                <a:solidFill>
                  <a:srgbClr val="302B29"/>
                </a:solidFill>
              </a:defRPr>
            </a:lvl2pPr>
            <a:lvl3pPr>
              <a:defRPr sz="1950" b="0">
                <a:solidFill>
                  <a:srgbClr val="302B29"/>
                </a:solidFill>
              </a:defRPr>
            </a:lvl3pPr>
            <a:lvl4pPr>
              <a:defRPr sz="1950" b="0">
                <a:solidFill>
                  <a:srgbClr val="302B29"/>
                </a:solidFill>
              </a:defRPr>
            </a:lvl4pPr>
            <a:lvl5pPr>
              <a:defRPr sz="1950" b="0">
                <a:solidFill>
                  <a:srgbClr val="302B29"/>
                </a:solidFill>
              </a:defRPr>
            </a:lvl5pPr>
            <a:lvl6pPr>
              <a:defRPr sz="1950" b="0">
                <a:solidFill>
                  <a:srgbClr val="302B29"/>
                </a:solidFill>
              </a:defRPr>
            </a:lvl6pPr>
            <a:lvl7pPr>
              <a:defRPr sz="1950" b="0">
                <a:solidFill>
                  <a:srgbClr val="302B29"/>
                </a:solidFill>
              </a:defRPr>
            </a:lvl7pPr>
            <a:lvl8pPr>
              <a:defRPr sz="1950" b="0">
                <a:solidFill>
                  <a:srgbClr val="302B29"/>
                </a:solidFill>
              </a:defRPr>
            </a:lvl8pPr>
            <a:lvl9pPr>
              <a:defRPr sz="195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按品类组织供应商和案例</a:t>
            </a:r>
          </a:p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扩大可比较、可组合的选择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C10CF-7763-421B-8C45-A6087F3C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42D3E"/>
                </a:solidFill>
              </a:defRPr>
            </a:defPPr>
            <a:lvl1pPr>
              <a:defRPr sz="2250" b="1">
                <a:solidFill>
                  <a:srgbClr val="642D3E"/>
                </a:solidFill>
              </a:defRPr>
            </a:lvl1pPr>
            <a:lvl2pPr>
              <a:defRPr sz="2250" b="1">
                <a:solidFill>
                  <a:srgbClr val="642D3E"/>
                </a:solidFill>
              </a:defRPr>
            </a:lvl2pPr>
            <a:lvl3pPr>
              <a:defRPr sz="2250" b="1">
                <a:solidFill>
                  <a:srgbClr val="642D3E"/>
                </a:solidFill>
              </a:defRPr>
            </a:lvl3pPr>
            <a:lvl4pPr>
              <a:defRPr sz="2250" b="1">
                <a:solidFill>
                  <a:srgbClr val="642D3E"/>
                </a:solidFill>
              </a:defRPr>
            </a:lvl4pPr>
            <a:lvl5pPr>
              <a:defRPr sz="2250" b="1">
                <a:solidFill>
                  <a:srgbClr val="642D3E"/>
                </a:solidFill>
              </a:defRPr>
            </a:lvl5pPr>
            <a:lvl6pPr>
              <a:defRPr sz="2250" b="1">
                <a:solidFill>
                  <a:srgbClr val="642D3E"/>
                </a:solidFill>
              </a:defRPr>
            </a:lvl6pPr>
            <a:lvl7pPr>
              <a:defRPr sz="2250" b="1">
                <a:solidFill>
                  <a:srgbClr val="642D3E"/>
                </a:solidFill>
              </a:defRPr>
            </a:lvl7pPr>
            <a:lvl8pPr>
              <a:defRPr sz="2250" b="1">
                <a:solidFill>
                  <a:srgbClr val="642D3E"/>
                </a:solidFill>
              </a:defRPr>
            </a:lvl8pPr>
            <a:lvl9pPr>
              <a:defRPr sz="22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42D3E"/>
                </a:solidFill>
              </a:defRPr>
            </a:pPr>
            <a:r>
              <a:rPr sz="2250" b="1">
                <a:solidFill>
                  <a:srgbClr val="642D3E"/>
                </a:solidFill>
              </a:rPr>
              <a:t>案例与交易反馈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C89C85-4C88-4D26-AE6F-05B5F46A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43150"/>
            <a:ext cx="4857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02B29"/>
                </a:solidFill>
              </a:defRPr>
            </a:defPPr>
            <a:lvl1pPr>
              <a:defRPr sz="1950" b="0">
                <a:solidFill>
                  <a:srgbClr val="302B29"/>
                </a:solidFill>
              </a:defRPr>
            </a:lvl1pPr>
            <a:lvl2pPr>
              <a:defRPr sz="1950" b="0">
                <a:solidFill>
                  <a:srgbClr val="302B29"/>
                </a:solidFill>
              </a:defRPr>
            </a:lvl2pPr>
            <a:lvl3pPr>
              <a:defRPr sz="1950" b="0">
                <a:solidFill>
                  <a:srgbClr val="302B29"/>
                </a:solidFill>
              </a:defRPr>
            </a:lvl3pPr>
            <a:lvl4pPr>
              <a:defRPr sz="1950" b="0">
                <a:solidFill>
                  <a:srgbClr val="302B29"/>
                </a:solidFill>
              </a:defRPr>
            </a:lvl4pPr>
            <a:lvl5pPr>
              <a:defRPr sz="1950" b="0">
                <a:solidFill>
                  <a:srgbClr val="302B29"/>
                </a:solidFill>
              </a:defRPr>
            </a:lvl5pPr>
            <a:lvl6pPr>
              <a:defRPr sz="1950" b="0">
                <a:solidFill>
                  <a:srgbClr val="302B29"/>
                </a:solidFill>
              </a:defRPr>
            </a:lvl6pPr>
            <a:lvl7pPr>
              <a:defRPr sz="1950" b="0">
                <a:solidFill>
                  <a:srgbClr val="302B29"/>
                </a:solidFill>
              </a:defRPr>
            </a:lvl7pPr>
            <a:lvl8pPr>
              <a:defRPr sz="1950" b="0">
                <a:solidFill>
                  <a:srgbClr val="302B29"/>
                </a:solidFill>
              </a:defRPr>
            </a:lvl8pPr>
            <a:lvl9pPr>
              <a:defRPr sz="195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把案例关联至商家与服务</a:t>
            </a:r>
          </a:p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积累用户选择和履约反馈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30B78-D13C-4723-8978-D1A77E7E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42D3E"/>
                </a:solidFill>
              </a:defRPr>
            </a:defPPr>
            <a:lvl1pPr>
              <a:defRPr sz="2250" b="1">
                <a:solidFill>
                  <a:srgbClr val="642D3E"/>
                </a:solidFill>
              </a:defRPr>
            </a:lvl1pPr>
            <a:lvl2pPr>
              <a:defRPr sz="2250" b="1">
                <a:solidFill>
                  <a:srgbClr val="642D3E"/>
                </a:solidFill>
              </a:defRPr>
            </a:lvl2pPr>
            <a:lvl3pPr>
              <a:defRPr sz="2250" b="1">
                <a:solidFill>
                  <a:srgbClr val="642D3E"/>
                </a:solidFill>
              </a:defRPr>
            </a:lvl3pPr>
            <a:lvl4pPr>
              <a:defRPr sz="2250" b="1">
                <a:solidFill>
                  <a:srgbClr val="642D3E"/>
                </a:solidFill>
              </a:defRPr>
            </a:lvl4pPr>
            <a:lvl5pPr>
              <a:defRPr sz="2250" b="1">
                <a:solidFill>
                  <a:srgbClr val="642D3E"/>
                </a:solidFill>
              </a:defRPr>
            </a:lvl5pPr>
            <a:lvl6pPr>
              <a:defRPr sz="2250" b="1">
                <a:solidFill>
                  <a:srgbClr val="642D3E"/>
                </a:solidFill>
              </a:defRPr>
            </a:lvl6pPr>
            <a:lvl7pPr>
              <a:defRPr sz="2250" b="1">
                <a:solidFill>
                  <a:srgbClr val="642D3E"/>
                </a:solidFill>
              </a:defRPr>
            </a:lvl7pPr>
            <a:lvl8pPr>
              <a:defRPr sz="2250" b="1">
                <a:solidFill>
                  <a:srgbClr val="642D3E"/>
                </a:solidFill>
              </a:defRPr>
            </a:lvl8pPr>
            <a:lvl9pPr>
              <a:defRPr sz="22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42D3E"/>
                </a:solidFill>
              </a:defRPr>
            </a:pPr>
            <a:r>
              <a:rPr sz="2250" b="1">
                <a:solidFill>
                  <a:srgbClr val="642D3E"/>
                </a:solidFill>
              </a:rPr>
              <a:t>AI 方案推荐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08AFD-2413-4AC6-9671-D1F0CEC7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857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02B29"/>
                </a:solidFill>
              </a:defRPr>
            </a:defPPr>
            <a:lvl1pPr>
              <a:defRPr sz="1950" b="0">
                <a:solidFill>
                  <a:srgbClr val="302B29"/>
                </a:solidFill>
              </a:defRPr>
            </a:lvl1pPr>
            <a:lvl2pPr>
              <a:defRPr sz="1950" b="0">
                <a:solidFill>
                  <a:srgbClr val="302B29"/>
                </a:solidFill>
              </a:defRPr>
            </a:lvl2pPr>
            <a:lvl3pPr>
              <a:defRPr sz="1950" b="0">
                <a:solidFill>
                  <a:srgbClr val="302B29"/>
                </a:solidFill>
              </a:defRPr>
            </a:lvl3pPr>
            <a:lvl4pPr>
              <a:defRPr sz="1950" b="0">
                <a:solidFill>
                  <a:srgbClr val="302B29"/>
                </a:solidFill>
              </a:defRPr>
            </a:lvl4pPr>
            <a:lvl5pPr>
              <a:defRPr sz="1950" b="0">
                <a:solidFill>
                  <a:srgbClr val="302B29"/>
                </a:solidFill>
              </a:defRPr>
            </a:lvl5pPr>
            <a:lvl6pPr>
              <a:defRPr sz="1950" b="0">
                <a:solidFill>
                  <a:srgbClr val="302B29"/>
                </a:solidFill>
              </a:defRPr>
            </a:lvl6pPr>
            <a:lvl7pPr>
              <a:defRPr sz="1950" b="0">
                <a:solidFill>
                  <a:srgbClr val="302B29"/>
                </a:solidFill>
              </a:defRPr>
            </a:lvl7pPr>
            <a:lvl8pPr>
              <a:defRPr sz="1950" b="0">
                <a:solidFill>
                  <a:srgbClr val="302B29"/>
                </a:solidFill>
              </a:defRPr>
            </a:lvl8pPr>
            <a:lvl9pPr>
              <a:defRPr sz="195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跨品类匹配用户预算与偏好</a:t>
            </a:r>
          </a:p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以真实咨询反馈改进方案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B2851-3F2F-4FBF-818E-5068F2F9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42D3E"/>
                </a:solidFill>
              </a:defRPr>
            </a:defPPr>
            <a:lvl1pPr>
              <a:defRPr sz="2250" b="1">
                <a:solidFill>
                  <a:srgbClr val="642D3E"/>
                </a:solidFill>
              </a:defRPr>
            </a:lvl1pPr>
            <a:lvl2pPr>
              <a:defRPr sz="2250" b="1">
                <a:solidFill>
                  <a:srgbClr val="642D3E"/>
                </a:solidFill>
              </a:defRPr>
            </a:lvl2pPr>
            <a:lvl3pPr>
              <a:defRPr sz="2250" b="1">
                <a:solidFill>
                  <a:srgbClr val="642D3E"/>
                </a:solidFill>
              </a:defRPr>
            </a:lvl3pPr>
            <a:lvl4pPr>
              <a:defRPr sz="2250" b="1">
                <a:solidFill>
                  <a:srgbClr val="642D3E"/>
                </a:solidFill>
              </a:defRPr>
            </a:lvl4pPr>
            <a:lvl5pPr>
              <a:defRPr sz="2250" b="1">
                <a:solidFill>
                  <a:srgbClr val="642D3E"/>
                </a:solidFill>
              </a:defRPr>
            </a:lvl5pPr>
            <a:lvl6pPr>
              <a:defRPr sz="2250" b="1">
                <a:solidFill>
                  <a:srgbClr val="642D3E"/>
                </a:solidFill>
              </a:defRPr>
            </a:lvl6pPr>
            <a:lvl7pPr>
              <a:defRPr sz="2250" b="1">
                <a:solidFill>
                  <a:srgbClr val="642D3E"/>
                </a:solidFill>
              </a:defRPr>
            </a:lvl7pPr>
            <a:lvl8pPr>
              <a:defRPr sz="2250" b="1">
                <a:solidFill>
                  <a:srgbClr val="642D3E"/>
                </a:solidFill>
              </a:defRPr>
            </a:lvl8pPr>
            <a:lvl9pPr>
              <a:defRPr sz="22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42D3E"/>
                </a:solidFill>
              </a:defRPr>
            </a:pPr>
            <a:r>
              <a:rPr sz="2250" b="1">
                <a:solidFill>
                  <a:srgbClr val="642D3E"/>
                </a:solidFill>
              </a:rPr>
              <a:t>双市场运营经验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BC4890-7B8F-42C9-9755-81258FB6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76750"/>
            <a:ext cx="4857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02B29"/>
                </a:solidFill>
              </a:defRPr>
            </a:defPPr>
            <a:lvl1pPr>
              <a:defRPr sz="1950" b="0">
                <a:solidFill>
                  <a:srgbClr val="302B29"/>
                </a:solidFill>
              </a:defRPr>
            </a:lvl1pPr>
            <a:lvl2pPr>
              <a:defRPr sz="1950" b="0">
                <a:solidFill>
                  <a:srgbClr val="302B29"/>
                </a:solidFill>
              </a:defRPr>
            </a:lvl2pPr>
            <a:lvl3pPr>
              <a:defRPr sz="1950" b="0">
                <a:solidFill>
                  <a:srgbClr val="302B29"/>
                </a:solidFill>
              </a:defRPr>
            </a:lvl3pPr>
            <a:lvl4pPr>
              <a:defRPr sz="1950" b="0">
                <a:solidFill>
                  <a:srgbClr val="302B29"/>
                </a:solidFill>
              </a:defRPr>
            </a:lvl4pPr>
            <a:lvl5pPr>
              <a:defRPr sz="1950" b="0">
                <a:solidFill>
                  <a:srgbClr val="302B29"/>
                </a:solidFill>
              </a:defRPr>
            </a:lvl5pPr>
            <a:lvl6pPr>
              <a:defRPr sz="1950" b="0">
                <a:solidFill>
                  <a:srgbClr val="302B29"/>
                </a:solidFill>
              </a:defRPr>
            </a:lvl6pPr>
            <a:lvl7pPr>
              <a:defRPr sz="1950" b="0">
                <a:solidFill>
                  <a:srgbClr val="302B29"/>
                </a:solidFill>
              </a:defRPr>
            </a:lvl7pPr>
            <a:lvl8pPr>
              <a:defRPr sz="1950" b="0">
                <a:solidFill>
                  <a:srgbClr val="302B29"/>
                </a:solidFill>
              </a:defRPr>
            </a:lvl8pPr>
            <a:lvl9pPr>
              <a:defRPr sz="195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分别验证国内获客与海外履约</a:t>
            </a:r>
          </a:p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逐步形成目的地服务规范</a:t>
            </a:r>
          </a:p>
        </p:txBody>
      </p:sp>
    </p:spTree>
    <p:extLst>
      <p:ext uri="{BB962C8B-B14F-4D97-AF65-F5344CB8AC3E}">
        <p14:creationId xmlns:p14="http://schemas.microsoft.com/office/powerpoint/2010/main" val="11881994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05222-DD90-40E2-9140-62BEC69B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产品已上线，欧洲市场先行验证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87FBB-7A33-4272-BC6D-EF497303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6E67"/>
                </a:solidFill>
              </a:defRPr>
            </a:defPPr>
            <a:lvl1pPr>
              <a:defRPr sz="1200" b="0">
                <a:solidFill>
                  <a:srgbClr val="776E67"/>
                </a:solidFill>
              </a:defRPr>
            </a:lvl1pPr>
            <a:lvl2pPr>
              <a:defRPr sz="1200" b="0">
                <a:solidFill>
                  <a:srgbClr val="776E67"/>
                </a:solidFill>
              </a:defRPr>
            </a:lvl2pPr>
            <a:lvl3pPr>
              <a:defRPr sz="1200" b="0">
                <a:solidFill>
                  <a:srgbClr val="776E67"/>
                </a:solidFill>
              </a:defRPr>
            </a:lvl3pPr>
            <a:lvl4pPr>
              <a:defRPr sz="1200" b="0">
                <a:solidFill>
                  <a:srgbClr val="776E67"/>
                </a:solidFill>
              </a:defRPr>
            </a:lvl4pPr>
            <a:lvl5pPr>
              <a:defRPr sz="1200" b="0">
                <a:solidFill>
                  <a:srgbClr val="776E67"/>
                </a:solidFill>
              </a:defRPr>
            </a:lvl5pPr>
            <a:lvl6pPr>
              <a:defRPr sz="1200" b="0">
                <a:solidFill>
                  <a:srgbClr val="776E67"/>
                </a:solidFill>
              </a:defRPr>
            </a:lvl6pPr>
            <a:lvl7pPr>
              <a:defRPr sz="1200" b="0">
                <a:solidFill>
                  <a:srgbClr val="776E67"/>
                </a:solidFill>
              </a:defRPr>
            </a:lvl7pPr>
            <a:lvl8pPr>
              <a:defRPr sz="1200" b="0">
                <a:solidFill>
                  <a:srgbClr val="776E67"/>
                </a:solidFill>
              </a:defRPr>
            </a:lvl8pPr>
            <a:lvl9pPr>
              <a:defRPr sz="120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76E67"/>
                </a:solidFill>
              </a:defRPr>
            </a:pPr>
            <a:r>
              <a:rPr sz="1200" b="0">
                <a:solidFill>
                  <a:srgbClr val="776E67"/>
                </a:solidFill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F208A-29A2-4EFE-8861-6DB10210A037}"/>
              </a:ext>
            </a:extLst>
          </p:cNvPr>
          <p:cNvGraphicFramePr/>
          <p:nvPr/>
        </p:nvGraphicFramePr>
        <p:xfrm>
          <a:off xmlns:a="http://schemas.openxmlformats.org/drawingml/2006/main" x="685800" y="1676400"/>
          <a:ext xmlns:a="http://schemas.openxmlformats.org/drawingml/2006/main" cx="10820400" cy="3686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581900"/>
              </a:tblGrid>
              <a:tr h="6143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已上线模块</a:t>
                      </a:r>
                    </a:p>
                  </a:txBody>
                  <a:tcPr marL="91440" marR="91440" marT="45720" marB="45720">
                    <a:solidFill>
                      <a:srgbClr val="642D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原 BP 描述</a:t>
                      </a:r>
                    </a:p>
                  </a:txBody>
                  <a:tcPr marL="91440" marR="91440" marT="45720" marB="45720">
                    <a:solidFill>
                      <a:srgbClr val="642D3E"/>
                    </a:solidFill>
                  </a:tcPr>
                </a:tc>
              </a:tr>
              <a:tr h="6143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B29"/>
                          </a:solidFill>
                        </a:rPr>
                        <a:t>场地与摄影师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B29"/>
                          </a:solidFill>
                        </a:rPr>
                        <a:t>500+ 海外场地及欧洲独立摄影师库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</a:tr>
              <a:tr h="6143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B29"/>
                          </a:solidFill>
                        </a:rPr>
                        <a:t>花卉与婚纱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B29"/>
                          </a:solidFill>
                        </a:rPr>
                        <a:t>Florajet 国际供应商，200+ SKU，礼服展示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</a:tr>
              <a:tr h="6143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B29"/>
                          </a:solidFill>
                        </a:rPr>
                        <a:t>婚礼团队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B29"/>
                          </a:solidFill>
                        </a:rPr>
                        <a:t>海外目的地婚礼策划团队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</a:tr>
              <a:tr h="6143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B29"/>
                          </a:solidFill>
                        </a:rPr>
                        <a:t>AI 智能顾问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B29"/>
                          </a:solidFill>
                        </a:rPr>
                        <a:t>多轮对话，跨品类推荐和方案调整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</a:tr>
              <a:tr h="6143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B29"/>
                          </a:solidFill>
                        </a:rPr>
                        <a:t>搜索可见性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B29"/>
                          </a:solidFill>
                        </a:rPr>
                        <a:t>SSG 预渲染及 SEO/GEO 优化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D3E2AF-C1E0-4350-B0A7-CEF0FF1C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6E67"/>
                </a:solidFill>
              </a:defRPr>
            </a:defPPr>
            <a:lvl1pPr>
              <a:defRPr sz="1350" b="0">
                <a:solidFill>
                  <a:srgbClr val="776E67"/>
                </a:solidFill>
              </a:defRPr>
            </a:lvl1pPr>
            <a:lvl2pPr>
              <a:defRPr sz="1350" b="0">
                <a:solidFill>
                  <a:srgbClr val="776E67"/>
                </a:solidFill>
              </a:defRPr>
            </a:lvl2pPr>
            <a:lvl3pPr>
              <a:defRPr sz="1350" b="0">
                <a:solidFill>
                  <a:srgbClr val="776E67"/>
                </a:solidFill>
              </a:defRPr>
            </a:lvl3pPr>
            <a:lvl4pPr>
              <a:defRPr sz="1350" b="0">
                <a:solidFill>
                  <a:srgbClr val="776E67"/>
                </a:solidFill>
              </a:defRPr>
            </a:lvl4pPr>
            <a:lvl5pPr>
              <a:defRPr sz="1350" b="0">
                <a:solidFill>
                  <a:srgbClr val="776E67"/>
                </a:solidFill>
              </a:defRPr>
            </a:lvl5pPr>
            <a:lvl6pPr>
              <a:defRPr sz="1350" b="0">
                <a:solidFill>
                  <a:srgbClr val="776E67"/>
                </a:solidFill>
              </a:defRPr>
            </a:lvl6pPr>
            <a:lvl7pPr>
              <a:defRPr sz="1350" b="0">
                <a:solidFill>
                  <a:srgbClr val="776E67"/>
                </a:solidFill>
              </a:defRPr>
            </a:lvl7pPr>
            <a:lvl8pPr>
              <a:defRPr sz="1350" b="0">
                <a:solidFill>
                  <a:srgbClr val="776E67"/>
                </a:solidFill>
              </a:defRPr>
            </a:lvl8pPr>
            <a:lvl9pPr>
              <a:defRPr sz="135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E67"/>
                </a:solidFill>
              </a:defRPr>
            </a:pPr>
            <a:r>
              <a:rPr sz="1350" b="0">
                <a:solidFill>
                  <a:srgbClr val="776E67"/>
                </a:solidFill>
              </a:rPr>
              <a:t>网站：www.europewedding.cn。资源规模沿用 BP，不等同于签约商家数量</a:t>
            </a:r>
          </a:p>
        </p:txBody>
      </p:sp>
    </p:spTree>
    <p:extLst>
      <p:ext uri="{BB962C8B-B14F-4D97-AF65-F5344CB8AC3E}">
        <p14:creationId xmlns:p14="http://schemas.microsoft.com/office/powerpoint/2010/main" val="20043752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3CF77-6C36-45D5-938B-066C46E0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已有早期咨询，成交模型仍需验证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F7444-E2D5-48D7-ACFD-A8A1A0ED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6E67"/>
                </a:solidFill>
              </a:defRPr>
            </a:defPPr>
            <a:lvl1pPr>
              <a:defRPr sz="1200" b="0">
                <a:solidFill>
                  <a:srgbClr val="776E67"/>
                </a:solidFill>
              </a:defRPr>
            </a:lvl1pPr>
            <a:lvl2pPr>
              <a:defRPr sz="1200" b="0">
                <a:solidFill>
                  <a:srgbClr val="776E67"/>
                </a:solidFill>
              </a:defRPr>
            </a:lvl2pPr>
            <a:lvl3pPr>
              <a:defRPr sz="1200" b="0">
                <a:solidFill>
                  <a:srgbClr val="776E67"/>
                </a:solidFill>
              </a:defRPr>
            </a:lvl3pPr>
            <a:lvl4pPr>
              <a:defRPr sz="1200" b="0">
                <a:solidFill>
                  <a:srgbClr val="776E67"/>
                </a:solidFill>
              </a:defRPr>
            </a:lvl4pPr>
            <a:lvl5pPr>
              <a:defRPr sz="1200" b="0">
                <a:solidFill>
                  <a:srgbClr val="776E67"/>
                </a:solidFill>
              </a:defRPr>
            </a:lvl5pPr>
            <a:lvl6pPr>
              <a:defRPr sz="1200" b="0">
                <a:solidFill>
                  <a:srgbClr val="776E67"/>
                </a:solidFill>
              </a:defRPr>
            </a:lvl6pPr>
            <a:lvl7pPr>
              <a:defRPr sz="1200" b="0">
                <a:solidFill>
                  <a:srgbClr val="776E67"/>
                </a:solidFill>
              </a:defRPr>
            </a:lvl7pPr>
            <a:lvl8pPr>
              <a:defRPr sz="1200" b="0">
                <a:solidFill>
                  <a:srgbClr val="776E67"/>
                </a:solidFill>
              </a:defRPr>
            </a:lvl8pPr>
            <a:lvl9pPr>
              <a:defRPr sz="120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76E67"/>
                </a:solidFill>
              </a:defRPr>
            </a:pPr>
            <a:r>
              <a:rPr sz="1200" b="0">
                <a:solidFill>
                  <a:srgbClr val="776E67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C8FE1-00C4-4A8F-B97A-AFAC3513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642D3E"/>
                </a:solidFill>
              </a:defRPr>
            </a:defPPr>
            <a:lvl1pPr>
              <a:defRPr sz="3450" b="1">
                <a:solidFill>
                  <a:srgbClr val="642D3E"/>
                </a:solidFill>
              </a:defRPr>
            </a:lvl1pPr>
            <a:lvl2pPr>
              <a:defRPr sz="3450" b="1">
                <a:solidFill>
                  <a:srgbClr val="642D3E"/>
                </a:solidFill>
              </a:defRPr>
            </a:lvl2pPr>
            <a:lvl3pPr>
              <a:defRPr sz="3450" b="1">
                <a:solidFill>
                  <a:srgbClr val="642D3E"/>
                </a:solidFill>
              </a:defRPr>
            </a:lvl3pPr>
            <a:lvl4pPr>
              <a:defRPr sz="3450" b="1">
                <a:solidFill>
                  <a:srgbClr val="642D3E"/>
                </a:solidFill>
              </a:defRPr>
            </a:lvl4pPr>
            <a:lvl5pPr>
              <a:defRPr sz="3450" b="1">
                <a:solidFill>
                  <a:srgbClr val="642D3E"/>
                </a:solidFill>
              </a:defRPr>
            </a:lvl5pPr>
            <a:lvl6pPr>
              <a:defRPr sz="3450" b="1">
                <a:solidFill>
                  <a:srgbClr val="642D3E"/>
                </a:solidFill>
              </a:defRPr>
            </a:lvl6pPr>
            <a:lvl7pPr>
              <a:defRPr sz="3450" b="1">
                <a:solidFill>
                  <a:srgbClr val="642D3E"/>
                </a:solidFill>
              </a:defRPr>
            </a:lvl7pPr>
            <a:lvl8pPr>
              <a:defRPr sz="3450" b="1">
                <a:solidFill>
                  <a:srgbClr val="642D3E"/>
                </a:solidFill>
              </a:defRPr>
            </a:lvl8pPr>
            <a:lvl9pPr>
              <a:defRPr sz="34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642D3E"/>
                </a:solidFill>
              </a:defRPr>
            </a:pPr>
            <a:r>
              <a:rPr sz="3450" b="1">
                <a:solidFill>
                  <a:srgbClr val="642D3E"/>
                </a:solidFill>
              </a:rPr>
              <a:t>一个月内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5FE56-3D5E-4CA4-A463-C915F9E2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0" b="1">
                <a:solidFill>
                  <a:srgbClr val="642D3E"/>
                </a:solidFill>
              </a:defRPr>
            </a:defPPr>
            <a:lvl1pPr>
              <a:defRPr sz="5250" b="1">
                <a:solidFill>
                  <a:srgbClr val="642D3E"/>
                </a:solidFill>
              </a:defRPr>
            </a:lvl1pPr>
            <a:lvl2pPr>
              <a:defRPr sz="5250" b="1">
                <a:solidFill>
                  <a:srgbClr val="642D3E"/>
                </a:solidFill>
              </a:defRPr>
            </a:lvl2pPr>
            <a:lvl3pPr>
              <a:defRPr sz="5250" b="1">
                <a:solidFill>
                  <a:srgbClr val="642D3E"/>
                </a:solidFill>
              </a:defRPr>
            </a:lvl3pPr>
            <a:lvl4pPr>
              <a:defRPr sz="5250" b="1">
                <a:solidFill>
                  <a:srgbClr val="642D3E"/>
                </a:solidFill>
              </a:defRPr>
            </a:lvl4pPr>
            <a:lvl5pPr>
              <a:defRPr sz="5250" b="1">
                <a:solidFill>
                  <a:srgbClr val="642D3E"/>
                </a:solidFill>
              </a:defRPr>
            </a:lvl5pPr>
            <a:lvl6pPr>
              <a:defRPr sz="5250" b="1">
                <a:solidFill>
                  <a:srgbClr val="642D3E"/>
                </a:solidFill>
              </a:defRPr>
            </a:lvl6pPr>
            <a:lvl7pPr>
              <a:defRPr sz="5250" b="1">
                <a:solidFill>
                  <a:srgbClr val="642D3E"/>
                </a:solidFill>
              </a:defRPr>
            </a:lvl7pPr>
            <a:lvl8pPr>
              <a:defRPr sz="5250" b="1">
                <a:solidFill>
                  <a:srgbClr val="642D3E"/>
                </a:solidFill>
              </a:defRPr>
            </a:lvl8pPr>
            <a:lvl9pPr>
              <a:defRPr sz="52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642D3E"/>
                </a:solidFill>
              </a:defRPr>
            </a:pPr>
            <a:r>
              <a:rPr sz="5250" b="1">
                <a:solidFill>
                  <a:srgbClr val="642D3E"/>
                </a:solidFill>
              </a:rPr>
              <a:t>几十单用户咨询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93FCF-67A4-424C-A6D3-7F9034A4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02B29"/>
                </a:solidFill>
              </a:defRPr>
            </a:defPPr>
            <a:lvl1pPr>
              <a:defRPr sz="2325" b="0">
                <a:solidFill>
                  <a:srgbClr val="302B29"/>
                </a:solidFill>
              </a:defRPr>
            </a:lvl1pPr>
            <a:lvl2pPr>
              <a:defRPr sz="2325" b="0">
                <a:solidFill>
                  <a:srgbClr val="302B29"/>
                </a:solidFill>
              </a:defRPr>
            </a:lvl2pPr>
            <a:lvl3pPr>
              <a:defRPr sz="2325" b="0">
                <a:solidFill>
                  <a:srgbClr val="302B29"/>
                </a:solidFill>
              </a:defRPr>
            </a:lvl3pPr>
            <a:lvl4pPr>
              <a:defRPr sz="2325" b="0">
                <a:solidFill>
                  <a:srgbClr val="302B29"/>
                </a:solidFill>
              </a:defRPr>
            </a:lvl4pPr>
            <a:lvl5pPr>
              <a:defRPr sz="2325" b="0">
                <a:solidFill>
                  <a:srgbClr val="302B29"/>
                </a:solidFill>
              </a:defRPr>
            </a:lvl5pPr>
            <a:lvl6pPr>
              <a:defRPr sz="2325" b="0">
                <a:solidFill>
                  <a:srgbClr val="302B29"/>
                </a:solidFill>
              </a:defRPr>
            </a:lvl6pPr>
            <a:lvl7pPr>
              <a:defRPr sz="2325" b="0">
                <a:solidFill>
                  <a:srgbClr val="302B29"/>
                </a:solidFill>
              </a:defRPr>
            </a:lvl7pPr>
            <a:lvl8pPr>
              <a:defRPr sz="2325" b="0">
                <a:solidFill>
                  <a:srgbClr val="302B29"/>
                </a:solidFill>
              </a:defRPr>
            </a:lvl8pPr>
            <a:lvl9pPr>
              <a:defRPr sz="2325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02B29"/>
                </a:solidFill>
              </a:defRPr>
            </a:pPr>
            <a:r>
              <a:rPr sz="2325" b="0">
                <a:solidFill>
                  <a:srgbClr val="302B29"/>
                </a:solidFill>
              </a:rPr>
              <a:t>小范围媒体投放后，用户咨询欧洲场地婚礼事宜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42D336-A6AB-47DD-916F-2AD876E6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02B29"/>
                </a:solidFill>
              </a:defRPr>
            </a:defPPr>
            <a:lvl1pPr>
              <a:defRPr sz="2025" b="0">
                <a:solidFill>
                  <a:srgbClr val="302B29"/>
                </a:solidFill>
              </a:defRPr>
            </a:lvl1pPr>
            <a:lvl2pPr>
              <a:defRPr sz="2025" b="0">
                <a:solidFill>
                  <a:srgbClr val="302B29"/>
                </a:solidFill>
              </a:defRPr>
            </a:lvl2pPr>
            <a:lvl3pPr>
              <a:defRPr sz="2025" b="0">
                <a:solidFill>
                  <a:srgbClr val="302B29"/>
                </a:solidFill>
              </a:defRPr>
            </a:lvl3pPr>
            <a:lvl4pPr>
              <a:defRPr sz="2025" b="0">
                <a:solidFill>
                  <a:srgbClr val="302B29"/>
                </a:solidFill>
              </a:defRPr>
            </a:lvl4pPr>
            <a:lvl5pPr>
              <a:defRPr sz="2025" b="0">
                <a:solidFill>
                  <a:srgbClr val="302B29"/>
                </a:solidFill>
              </a:defRPr>
            </a:lvl5pPr>
            <a:lvl6pPr>
              <a:defRPr sz="2025" b="0">
                <a:solidFill>
                  <a:srgbClr val="302B29"/>
                </a:solidFill>
              </a:defRPr>
            </a:lvl6pPr>
            <a:lvl7pPr>
              <a:defRPr sz="2025" b="0">
                <a:solidFill>
                  <a:srgbClr val="302B29"/>
                </a:solidFill>
              </a:defRPr>
            </a:lvl7pPr>
            <a:lvl8pPr>
              <a:defRPr sz="2025" b="0">
                <a:solidFill>
                  <a:srgbClr val="302B29"/>
                </a:solidFill>
              </a:defRPr>
            </a:lvl8pPr>
            <a:lvl9pPr>
              <a:defRPr sz="2025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02B29"/>
                </a:solidFill>
              </a:defRPr>
            </a:pPr>
            <a:r>
              <a:rPr sz="2025" b="0">
                <a:solidFill>
                  <a:srgbClr val="302B29"/>
                </a:solidFill>
              </a:rPr>
              <a:t>下一步验证：咨询转化率、获客成本、成交及履约满意度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6EB07-0146-4871-9B84-B3221843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6E67"/>
                </a:solidFill>
              </a:defRPr>
            </a:defPPr>
            <a:lvl1pPr>
              <a:defRPr sz="1350" b="0">
                <a:solidFill>
                  <a:srgbClr val="776E67"/>
                </a:solidFill>
              </a:defRPr>
            </a:lvl1pPr>
            <a:lvl2pPr>
              <a:defRPr sz="1350" b="0">
                <a:solidFill>
                  <a:srgbClr val="776E67"/>
                </a:solidFill>
              </a:defRPr>
            </a:lvl2pPr>
            <a:lvl3pPr>
              <a:defRPr sz="1350" b="0">
                <a:solidFill>
                  <a:srgbClr val="776E67"/>
                </a:solidFill>
              </a:defRPr>
            </a:lvl3pPr>
            <a:lvl4pPr>
              <a:defRPr sz="1350" b="0">
                <a:solidFill>
                  <a:srgbClr val="776E67"/>
                </a:solidFill>
              </a:defRPr>
            </a:lvl4pPr>
            <a:lvl5pPr>
              <a:defRPr sz="1350" b="0">
                <a:solidFill>
                  <a:srgbClr val="776E67"/>
                </a:solidFill>
              </a:defRPr>
            </a:lvl5pPr>
            <a:lvl6pPr>
              <a:defRPr sz="1350" b="0">
                <a:solidFill>
                  <a:srgbClr val="776E67"/>
                </a:solidFill>
              </a:defRPr>
            </a:lvl6pPr>
            <a:lvl7pPr>
              <a:defRPr sz="1350" b="0">
                <a:solidFill>
                  <a:srgbClr val="776E67"/>
                </a:solidFill>
              </a:defRPr>
            </a:lvl7pPr>
            <a:lvl8pPr>
              <a:defRPr sz="1350" b="0">
                <a:solidFill>
                  <a:srgbClr val="776E67"/>
                </a:solidFill>
              </a:defRPr>
            </a:lvl8pPr>
            <a:lvl9pPr>
              <a:defRPr sz="135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E67"/>
                </a:solidFill>
              </a:defRPr>
            </a:pPr>
            <a:r>
              <a:rPr sz="1350" b="0">
                <a:solidFill>
                  <a:srgbClr val="776E67"/>
                </a:solidFill>
              </a:rPr>
              <a:t>以上为 BP 自述的早期咨询情况，不等同于成交订单或已实现营收</a:t>
            </a:r>
          </a:p>
        </p:txBody>
      </p:sp>
    </p:spTree>
    <p:extLst>
      <p:ext uri="{BB962C8B-B14F-4D97-AF65-F5344CB8AC3E}">
        <p14:creationId xmlns:p14="http://schemas.microsoft.com/office/powerpoint/2010/main" val="10877746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3948D-3DC4-4A23-BEDC-1D5CC692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创始人与技术顾问团队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8BA7B-2D5F-4219-9258-5AF498DB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6E67"/>
                </a:solidFill>
              </a:defRPr>
            </a:defPPr>
            <a:lvl1pPr>
              <a:defRPr sz="1200" b="0">
                <a:solidFill>
                  <a:srgbClr val="776E67"/>
                </a:solidFill>
              </a:defRPr>
            </a:lvl1pPr>
            <a:lvl2pPr>
              <a:defRPr sz="1200" b="0">
                <a:solidFill>
                  <a:srgbClr val="776E67"/>
                </a:solidFill>
              </a:defRPr>
            </a:lvl2pPr>
            <a:lvl3pPr>
              <a:defRPr sz="1200" b="0">
                <a:solidFill>
                  <a:srgbClr val="776E67"/>
                </a:solidFill>
              </a:defRPr>
            </a:lvl3pPr>
            <a:lvl4pPr>
              <a:defRPr sz="1200" b="0">
                <a:solidFill>
                  <a:srgbClr val="776E67"/>
                </a:solidFill>
              </a:defRPr>
            </a:lvl4pPr>
            <a:lvl5pPr>
              <a:defRPr sz="1200" b="0">
                <a:solidFill>
                  <a:srgbClr val="776E67"/>
                </a:solidFill>
              </a:defRPr>
            </a:lvl5pPr>
            <a:lvl6pPr>
              <a:defRPr sz="1200" b="0">
                <a:solidFill>
                  <a:srgbClr val="776E67"/>
                </a:solidFill>
              </a:defRPr>
            </a:lvl6pPr>
            <a:lvl7pPr>
              <a:defRPr sz="1200" b="0">
                <a:solidFill>
                  <a:srgbClr val="776E67"/>
                </a:solidFill>
              </a:defRPr>
            </a:lvl7pPr>
            <a:lvl8pPr>
              <a:defRPr sz="1200" b="0">
                <a:solidFill>
                  <a:srgbClr val="776E67"/>
                </a:solidFill>
              </a:defRPr>
            </a:lvl8pPr>
            <a:lvl9pPr>
              <a:defRPr sz="120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76E67"/>
                </a:solidFill>
              </a:defRPr>
            </a:pPr>
            <a:r>
              <a:rPr sz="1200" b="0">
                <a:solidFill>
                  <a:srgbClr val="776E67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FBCA9-8351-47F2-A156-D7DB6535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642D3E"/>
                </a:solidFill>
              </a:defRPr>
            </a:defPPr>
            <a:lvl1pPr>
              <a:defRPr sz="3000" b="1">
                <a:solidFill>
                  <a:srgbClr val="642D3E"/>
                </a:solidFill>
              </a:defRPr>
            </a:lvl1pPr>
            <a:lvl2pPr>
              <a:defRPr sz="3000" b="1">
                <a:solidFill>
                  <a:srgbClr val="642D3E"/>
                </a:solidFill>
              </a:defRPr>
            </a:lvl2pPr>
            <a:lvl3pPr>
              <a:defRPr sz="3000" b="1">
                <a:solidFill>
                  <a:srgbClr val="642D3E"/>
                </a:solidFill>
              </a:defRPr>
            </a:lvl3pPr>
            <a:lvl4pPr>
              <a:defRPr sz="3000" b="1">
                <a:solidFill>
                  <a:srgbClr val="642D3E"/>
                </a:solidFill>
              </a:defRPr>
            </a:lvl4pPr>
            <a:lvl5pPr>
              <a:defRPr sz="3000" b="1">
                <a:solidFill>
                  <a:srgbClr val="642D3E"/>
                </a:solidFill>
              </a:defRPr>
            </a:lvl5pPr>
            <a:lvl6pPr>
              <a:defRPr sz="3000" b="1">
                <a:solidFill>
                  <a:srgbClr val="642D3E"/>
                </a:solidFill>
              </a:defRPr>
            </a:lvl6pPr>
            <a:lvl7pPr>
              <a:defRPr sz="3000" b="1">
                <a:solidFill>
                  <a:srgbClr val="642D3E"/>
                </a:solidFill>
              </a:defRPr>
            </a:lvl7pPr>
            <a:lvl8pPr>
              <a:defRPr sz="3000" b="1">
                <a:solidFill>
                  <a:srgbClr val="642D3E"/>
                </a:solidFill>
              </a:defRPr>
            </a:lvl8pPr>
            <a:lvl9pPr>
              <a:defRPr sz="30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642D3E"/>
                </a:solidFill>
              </a:defRPr>
            </a:pPr>
            <a:r>
              <a:rPr sz="3000" b="1">
                <a:solidFill>
                  <a:srgbClr val="642D3E"/>
                </a:solidFill>
              </a:rPr>
              <a:t>童伟  创始人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99C93-BA97-4604-ACA7-30C667AE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02B29"/>
                </a:solidFill>
              </a:defRPr>
            </a:defPPr>
            <a:lvl1pPr>
              <a:defRPr sz="2175" b="0">
                <a:solidFill>
                  <a:srgbClr val="302B29"/>
                </a:solidFill>
              </a:defRPr>
            </a:lvl1pPr>
            <a:lvl2pPr>
              <a:defRPr sz="2175" b="0">
                <a:solidFill>
                  <a:srgbClr val="302B29"/>
                </a:solidFill>
              </a:defRPr>
            </a:lvl2pPr>
            <a:lvl3pPr>
              <a:defRPr sz="2175" b="0">
                <a:solidFill>
                  <a:srgbClr val="302B29"/>
                </a:solidFill>
              </a:defRPr>
            </a:lvl3pPr>
            <a:lvl4pPr>
              <a:defRPr sz="2175" b="0">
                <a:solidFill>
                  <a:srgbClr val="302B29"/>
                </a:solidFill>
              </a:defRPr>
            </a:lvl4pPr>
            <a:lvl5pPr>
              <a:defRPr sz="2175" b="0">
                <a:solidFill>
                  <a:srgbClr val="302B29"/>
                </a:solidFill>
              </a:defRPr>
            </a:lvl5pPr>
            <a:lvl6pPr>
              <a:defRPr sz="2175" b="0">
                <a:solidFill>
                  <a:srgbClr val="302B29"/>
                </a:solidFill>
              </a:defRPr>
            </a:lvl6pPr>
            <a:lvl7pPr>
              <a:defRPr sz="2175" b="0">
                <a:solidFill>
                  <a:srgbClr val="302B29"/>
                </a:solidFill>
              </a:defRPr>
            </a:lvl7pPr>
            <a:lvl8pPr>
              <a:defRPr sz="2175" b="0">
                <a:solidFill>
                  <a:srgbClr val="302B29"/>
                </a:solidFill>
              </a:defRPr>
            </a:lvl8pPr>
            <a:lvl9pPr>
              <a:defRPr sz="2175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02B29"/>
                </a:solidFill>
              </a:defRPr>
            </a:pPr>
            <a:r>
              <a:rPr sz="2175" b="0">
                <a:solidFill>
                  <a:srgbClr val="302B29"/>
                </a:solidFill>
              </a:rPr>
              <a:t>西安电子科技大学，前阿里巴巴工程师（2024–2026）</a:t>
            </a:r>
          </a:p>
          <a:p xmlns:a="http://schemas.openxmlformats.org/drawingml/2006/main">
            <a:pPr>
              <a:defRPr sz="2175" b="0">
                <a:solidFill>
                  <a:srgbClr val="302B29"/>
                </a:solidFill>
              </a:defRPr>
            </a:pPr>
            <a:r>
              <a:rPr sz="2175" b="0">
                <a:solidFill>
                  <a:srgbClr val="302B29"/>
                </a:solidFill>
              </a:rPr>
              <a:t>负责整体架构与全栈开发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D6757-9F5F-460B-858F-CA6B8D1B0C45}"/>
              </a:ext>
            </a:extLst>
          </p:cNvPr>
          <p:cNvGraphicFramePr/>
          <p:nvPr/>
        </p:nvGraphicFramePr>
        <p:xfrm>
          <a:off xmlns:a="http://schemas.openxmlformats.org/drawingml/2006/main" x="685800" y="3476625"/>
          <a:ext xmlns:a="http://schemas.openxmlformats.org/drawingml/2006/main" cx="108204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810250"/>
                <a:gridCol w="2914650"/>
              </a:tblGrid>
              <a:tr h="438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技术顾问</a:t>
                      </a:r>
                    </a:p>
                  </a:txBody>
                  <a:tcPr marL="91440" marR="91440" marT="45720" marB="45720">
                    <a:solidFill>
                      <a:srgbClr val="642D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背景</a:t>
                      </a:r>
                    </a:p>
                  </a:txBody>
                  <a:tcPr marL="91440" marR="91440" marT="45720" marB="45720">
                    <a:solidFill>
                      <a:srgbClr val="642D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参与方向</a:t>
                      </a:r>
                    </a:p>
                  </a:txBody>
                  <a:tcPr marL="91440" marR="91440" marT="45720" marB="45720">
                    <a:solidFill>
                      <a:srgbClr val="642D3E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2B29"/>
                          </a:solidFill>
                        </a:rPr>
                        <a:t>曹强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2B29"/>
                          </a:solidFill>
                        </a:rPr>
                        <a:t>西安电子科技大学，前携程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2B29"/>
                          </a:solidFill>
                        </a:rPr>
                        <a:t>旅游行业技术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2B29"/>
                          </a:solidFill>
                        </a:rPr>
                        <a:t>闫志超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2B29"/>
                          </a:solidFill>
                        </a:rPr>
                        <a:t>华东理工大学，前阿里巴巴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2B29"/>
                          </a:solidFill>
                        </a:rPr>
                        <a:t>后端架构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2B29"/>
                          </a:solidFill>
                        </a:rPr>
                        <a:t>孙苗苗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2B29"/>
                          </a:solidFill>
                        </a:rPr>
                        <a:t>西安电子科技大学，前阿里巴巴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2B29"/>
                          </a:solidFill>
                        </a:rPr>
                        <a:t>前端技术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2B29"/>
                          </a:solidFill>
                        </a:rPr>
                        <a:t>吴镇国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2B29"/>
                          </a:solidFill>
                        </a:rPr>
                        <a:t>墨尔本大学，前阿里巴巴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2B29"/>
                          </a:solidFill>
                        </a:rPr>
                        <a:t>数据与 AI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A736D-E5FA-4200-85B7-F691A470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6E67"/>
                </a:solidFill>
              </a:defRPr>
            </a:defPPr>
            <a:lvl1pPr>
              <a:defRPr sz="1350" b="0">
                <a:solidFill>
                  <a:srgbClr val="776E67"/>
                </a:solidFill>
              </a:defRPr>
            </a:lvl1pPr>
            <a:lvl2pPr>
              <a:defRPr sz="1350" b="0">
                <a:solidFill>
                  <a:srgbClr val="776E67"/>
                </a:solidFill>
              </a:defRPr>
            </a:lvl2pPr>
            <a:lvl3pPr>
              <a:defRPr sz="1350" b="0">
                <a:solidFill>
                  <a:srgbClr val="776E67"/>
                </a:solidFill>
              </a:defRPr>
            </a:lvl3pPr>
            <a:lvl4pPr>
              <a:defRPr sz="1350" b="0">
                <a:solidFill>
                  <a:srgbClr val="776E67"/>
                </a:solidFill>
              </a:defRPr>
            </a:lvl4pPr>
            <a:lvl5pPr>
              <a:defRPr sz="1350" b="0">
                <a:solidFill>
                  <a:srgbClr val="776E67"/>
                </a:solidFill>
              </a:defRPr>
            </a:lvl5pPr>
            <a:lvl6pPr>
              <a:defRPr sz="1350" b="0">
                <a:solidFill>
                  <a:srgbClr val="776E67"/>
                </a:solidFill>
              </a:defRPr>
            </a:lvl6pPr>
            <a:lvl7pPr>
              <a:defRPr sz="1350" b="0">
                <a:solidFill>
                  <a:srgbClr val="776E67"/>
                </a:solidFill>
              </a:defRPr>
            </a:lvl7pPr>
            <a:lvl8pPr>
              <a:defRPr sz="1350" b="0">
                <a:solidFill>
                  <a:srgbClr val="776E67"/>
                </a:solidFill>
              </a:defRPr>
            </a:lvl8pPr>
            <a:lvl9pPr>
              <a:defRPr sz="135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E67"/>
                </a:solidFill>
              </a:defRPr>
            </a:pPr>
            <a:r>
              <a:rPr sz="1350" b="0">
                <a:solidFill>
                  <a:srgbClr val="776E67"/>
                </a:solidFill>
              </a:rPr>
              <a:t>顾问以技术咨询方式参与，区别于全职团队</a:t>
            </a:r>
          </a:p>
        </p:txBody>
      </p:sp>
    </p:spTree>
    <p:extLst>
      <p:ext uri="{BB962C8B-B14F-4D97-AF65-F5344CB8AC3E}">
        <p14:creationId xmlns:p14="http://schemas.microsoft.com/office/powerpoint/2010/main" val="15822811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B47CB-D98F-49DB-8774-07479D13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天使轮拟融资 30–50 万元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BFE04-3A8E-4218-B71D-B1811A84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6E67"/>
                </a:solidFill>
              </a:defRPr>
            </a:defPPr>
            <a:lvl1pPr>
              <a:defRPr sz="1200" b="0">
                <a:solidFill>
                  <a:srgbClr val="776E67"/>
                </a:solidFill>
              </a:defRPr>
            </a:lvl1pPr>
            <a:lvl2pPr>
              <a:defRPr sz="1200" b="0">
                <a:solidFill>
                  <a:srgbClr val="776E67"/>
                </a:solidFill>
              </a:defRPr>
            </a:lvl2pPr>
            <a:lvl3pPr>
              <a:defRPr sz="1200" b="0">
                <a:solidFill>
                  <a:srgbClr val="776E67"/>
                </a:solidFill>
              </a:defRPr>
            </a:lvl3pPr>
            <a:lvl4pPr>
              <a:defRPr sz="1200" b="0">
                <a:solidFill>
                  <a:srgbClr val="776E67"/>
                </a:solidFill>
              </a:defRPr>
            </a:lvl4pPr>
            <a:lvl5pPr>
              <a:defRPr sz="1200" b="0">
                <a:solidFill>
                  <a:srgbClr val="776E67"/>
                </a:solidFill>
              </a:defRPr>
            </a:lvl5pPr>
            <a:lvl6pPr>
              <a:defRPr sz="1200" b="0">
                <a:solidFill>
                  <a:srgbClr val="776E67"/>
                </a:solidFill>
              </a:defRPr>
            </a:lvl6pPr>
            <a:lvl7pPr>
              <a:defRPr sz="1200" b="0">
                <a:solidFill>
                  <a:srgbClr val="776E67"/>
                </a:solidFill>
              </a:defRPr>
            </a:lvl7pPr>
            <a:lvl8pPr>
              <a:defRPr sz="1200" b="0">
                <a:solidFill>
                  <a:srgbClr val="776E67"/>
                </a:solidFill>
              </a:defRPr>
            </a:lvl8pPr>
            <a:lvl9pPr>
              <a:defRPr sz="120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76E67"/>
                </a:solidFill>
              </a:defRPr>
            </a:pPr>
            <a:r>
              <a:rPr sz="1200" b="0">
                <a:solidFill>
                  <a:srgbClr val="776E67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ECAC2-5523-4DCC-8C87-4F96208C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642D3E"/>
                </a:solidFill>
              </a:defRPr>
            </a:defPPr>
            <a:lvl1pPr>
              <a:defRPr sz="5700" b="1">
                <a:solidFill>
                  <a:srgbClr val="642D3E"/>
                </a:solidFill>
              </a:defRPr>
            </a:lvl1pPr>
            <a:lvl2pPr>
              <a:defRPr sz="5700" b="1">
                <a:solidFill>
                  <a:srgbClr val="642D3E"/>
                </a:solidFill>
              </a:defRPr>
            </a:lvl2pPr>
            <a:lvl3pPr>
              <a:defRPr sz="5700" b="1">
                <a:solidFill>
                  <a:srgbClr val="642D3E"/>
                </a:solidFill>
              </a:defRPr>
            </a:lvl3pPr>
            <a:lvl4pPr>
              <a:defRPr sz="5700" b="1">
                <a:solidFill>
                  <a:srgbClr val="642D3E"/>
                </a:solidFill>
              </a:defRPr>
            </a:lvl4pPr>
            <a:lvl5pPr>
              <a:defRPr sz="5700" b="1">
                <a:solidFill>
                  <a:srgbClr val="642D3E"/>
                </a:solidFill>
              </a:defRPr>
            </a:lvl5pPr>
            <a:lvl6pPr>
              <a:defRPr sz="5700" b="1">
                <a:solidFill>
                  <a:srgbClr val="642D3E"/>
                </a:solidFill>
              </a:defRPr>
            </a:lvl6pPr>
            <a:lvl7pPr>
              <a:defRPr sz="5700" b="1">
                <a:solidFill>
                  <a:srgbClr val="642D3E"/>
                </a:solidFill>
              </a:defRPr>
            </a:lvl7pPr>
            <a:lvl8pPr>
              <a:defRPr sz="5700" b="1">
                <a:solidFill>
                  <a:srgbClr val="642D3E"/>
                </a:solidFill>
              </a:defRPr>
            </a:lvl8pPr>
            <a:lvl9pPr>
              <a:defRPr sz="57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642D3E"/>
                </a:solidFill>
              </a:defRPr>
            </a:pPr>
            <a:r>
              <a:rPr sz="5700" b="1">
                <a:solidFill>
                  <a:srgbClr val="642D3E"/>
                </a:solidFill>
              </a:rPr>
              <a:t>30–50 万元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6B526-C489-4CFC-A1A4-2E574756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302B29"/>
                </a:solidFill>
              </a:defRPr>
            </a:defPPr>
            <a:lvl1pPr>
              <a:defRPr sz="3000" b="0">
                <a:solidFill>
                  <a:srgbClr val="302B29"/>
                </a:solidFill>
              </a:defRPr>
            </a:lvl1pPr>
            <a:lvl2pPr>
              <a:defRPr sz="3000" b="0">
                <a:solidFill>
                  <a:srgbClr val="302B29"/>
                </a:solidFill>
              </a:defRPr>
            </a:lvl2pPr>
            <a:lvl3pPr>
              <a:defRPr sz="3000" b="0">
                <a:solidFill>
                  <a:srgbClr val="302B29"/>
                </a:solidFill>
              </a:defRPr>
            </a:lvl3pPr>
            <a:lvl4pPr>
              <a:defRPr sz="3000" b="0">
                <a:solidFill>
                  <a:srgbClr val="302B29"/>
                </a:solidFill>
              </a:defRPr>
            </a:lvl4pPr>
            <a:lvl5pPr>
              <a:defRPr sz="3000" b="0">
                <a:solidFill>
                  <a:srgbClr val="302B29"/>
                </a:solidFill>
              </a:defRPr>
            </a:lvl5pPr>
            <a:lvl6pPr>
              <a:defRPr sz="3000" b="0">
                <a:solidFill>
                  <a:srgbClr val="302B29"/>
                </a:solidFill>
              </a:defRPr>
            </a:lvl6pPr>
            <a:lvl7pPr>
              <a:defRPr sz="3000" b="0">
                <a:solidFill>
                  <a:srgbClr val="302B29"/>
                </a:solidFill>
              </a:defRPr>
            </a:lvl7pPr>
            <a:lvl8pPr>
              <a:defRPr sz="3000" b="0">
                <a:solidFill>
                  <a:srgbClr val="302B29"/>
                </a:solidFill>
              </a:defRPr>
            </a:lvl8pPr>
            <a:lvl9pPr>
              <a:defRPr sz="300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302B29"/>
                </a:solidFill>
              </a:defRPr>
            </a:pPr>
            <a:r>
              <a:rPr sz="3000" b="0">
                <a:solidFill>
                  <a:srgbClr val="302B29"/>
                </a:solidFill>
              </a:rPr>
              <a:t>拟出让 5% 股份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225B4-A45B-4302-88E3-906D1FB3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81475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02B29"/>
                </a:solidFill>
              </a:defRPr>
            </a:defPPr>
            <a:lvl1pPr>
              <a:defRPr sz="2325" b="0">
                <a:solidFill>
                  <a:srgbClr val="302B29"/>
                </a:solidFill>
              </a:defRPr>
            </a:lvl1pPr>
            <a:lvl2pPr>
              <a:defRPr sz="2325" b="0">
                <a:solidFill>
                  <a:srgbClr val="302B29"/>
                </a:solidFill>
              </a:defRPr>
            </a:lvl2pPr>
            <a:lvl3pPr>
              <a:defRPr sz="2325" b="0">
                <a:solidFill>
                  <a:srgbClr val="302B29"/>
                </a:solidFill>
              </a:defRPr>
            </a:lvl3pPr>
            <a:lvl4pPr>
              <a:defRPr sz="2325" b="0">
                <a:solidFill>
                  <a:srgbClr val="302B29"/>
                </a:solidFill>
              </a:defRPr>
            </a:lvl4pPr>
            <a:lvl5pPr>
              <a:defRPr sz="2325" b="0">
                <a:solidFill>
                  <a:srgbClr val="302B29"/>
                </a:solidFill>
              </a:defRPr>
            </a:lvl5pPr>
            <a:lvl6pPr>
              <a:defRPr sz="2325" b="0">
                <a:solidFill>
                  <a:srgbClr val="302B29"/>
                </a:solidFill>
              </a:defRPr>
            </a:lvl6pPr>
            <a:lvl7pPr>
              <a:defRPr sz="2325" b="0">
                <a:solidFill>
                  <a:srgbClr val="302B29"/>
                </a:solidFill>
              </a:defRPr>
            </a:lvl7pPr>
            <a:lvl8pPr>
              <a:defRPr sz="2325" b="0">
                <a:solidFill>
                  <a:srgbClr val="302B29"/>
                </a:solidFill>
              </a:defRPr>
            </a:lvl8pPr>
            <a:lvl9pPr>
              <a:defRPr sz="2325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02B29"/>
                </a:solidFill>
              </a:defRPr>
            </a:pPr>
            <a:r>
              <a:rPr sz="2325" b="0">
                <a:solidFill>
                  <a:srgbClr val="302B29"/>
                </a:solidFill>
              </a:rPr>
              <a:t>用于核心运转、商家招募与前期市场验证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F58BE-C8E9-4020-83F7-14E9A95C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02B29"/>
                </a:solidFill>
              </a:defRPr>
            </a:defPPr>
            <a:lvl1pPr>
              <a:defRPr sz="2100" b="0">
                <a:solidFill>
                  <a:srgbClr val="302B29"/>
                </a:solidFill>
              </a:defRPr>
            </a:lvl1pPr>
            <a:lvl2pPr>
              <a:defRPr sz="2100" b="0">
                <a:solidFill>
                  <a:srgbClr val="302B29"/>
                </a:solidFill>
              </a:defRPr>
            </a:lvl2pPr>
            <a:lvl3pPr>
              <a:defRPr sz="2100" b="0">
                <a:solidFill>
                  <a:srgbClr val="302B29"/>
                </a:solidFill>
              </a:defRPr>
            </a:lvl3pPr>
            <a:lvl4pPr>
              <a:defRPr sz="2100" b="0">
                <a:solidFill>
                  <a:srgbClr val="302B29"/>
                </a:solidFill>
              </a:defRPr>
            </a:lvl4pPr>
            <a:lvl5pPr>
              <a:defRPr sz="2100" b="0">
                <a:solidFill>
                  <a:srgbClr val="302B29"/>
                </a:solidFill>
              </a:defRPr>
            </a:lvl5pPr>
            <a:lvl6pPr>
              <a:defRPr sz="2100" b="0">
                <a:solidFill>
                  <a:srgbClr val="302B29"/>
                </a:solidFill>
              </a:defRPr>
            </a:lvl6pPr>
            <a:lvl7pPr>
              <a:defRPr sz="2100" b="0">
                <a:solidFill>
                  <a:srgbClr val="302B29"/>
                </a:solidFill>
              </a:defRPr>
            </a:lvl7pPr>
            <a:lvl8pPr>
              <a:defRPr sz="2100" b="0">
                <a:solidFill>
                  <a:srgbClr val="302B29"/>
                </a:solidFill>
              </a:defRPr>
            </a:lvl8pPr>
            <a:lvl9pPr>
              <a:defRPr sz="210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B29"/>
                </a:solidFill>
              </a:defRPr>
            </a:pPr>
            <a:r>
              <a:rPr sz="2100" b="0">
                <a:solidFill>
                  <a:srgbClr val="302B29"/>
                </a:solidFill>
              </a:rPr>
              <a:t>完整六个月实验预算另计，后续融资取决于验证结果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DE1EA0-1CEE-4DEA-B1CA-A6D42176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6E67"/>
                </a:solidFill>
              </a:defRPr>
            </a:defPPr>
            <a:lvl1pPr>
              <a:defRPr sz="1350" b="0">
                <a:solidFill>
                  <a:srgbClr val="776E67"/>
                </a:solidFill>
              </a:defRPr>
            </a:lvl1pPr>
            <a:lvl2pPr>
              <a:defRPr sz="1350" b="0">
                <a:solidFill>
                  <a:srgbClr val="776E67"/>
                </a:solidFill>
              </a:defRPr>
            </a:lvl2pPr>
            <a:lvl3pPr>
              <a:defRPr sz="1350" b="0">
                <a:solidFill>
                  <a:srgbClr val="776E67"/>
                </a:solidFill>
              </a:defRPr>
            </a:lvl3pPr>
            <a:lvl4pPr>
              <a:defRPr sz="1350" b="0">
                <a:solidFill>
                  <a:srgbClr val="776E67"/>
                </a:solidFill>
              </a:defRPr>
            </a:lvl4pPr>
            <a:lvl5pPr>
              <a:defRPr sz="1350" b="0">
                <a:solidFill>
                  <a:srgbClr val="776E67"/>
                </a:solidFill>
              </a:defRPr>
            </a:lvl5pPr>
            <a:lvl6pPr>
              <a:defRPr sz="1350" b="0">
                <a:solidFill>
                  <a:srgbClr val="776E67"/>
                </a:solidFill>
              </a:defRPr>
            </a:lvl6pPr>
            <a:lvl7pPr>
              <a:defRPr sz="1350" b="0">
                <a:solidFill>
                  <a:srgbClr val="776E67"/>
                </a:solidFill>
              </a:defRPr>
            </a:lvl7pPr>
            <a:lvl8pPr>
              <a:defRPr sz="1350" b="0">
                <a:solidFill>
                  <a:srgbClr val="776E67"/>
                </a:solidFill>
              </a:defRPr>
            </a:lvl8pPr>
            <a:lvl9pPr>
              <a:defRPr sz="135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E67"/>
                </a:solidFill>
              </a:defRPr>
            </a:pPr>
            <a:r>
              <a:rPr sz="1350" b="0">
                <a:solidFill>
                  <a:srgbClr val="776E67"/>
                </a:solidFill>
              </a:rPr>
              <a:t>金额及股权比例为 BP 融资计划，具体条款以双方协商为准</a:t>
            </a:r>
          </a:p>
        </p:txBody>
      </p:sp>
    </p:spTree>
    <p:extLst>
      <p:ext uri="{BB962C8B-B14F-4D97-AF65-F5344CB8AC3E}">
        <p14:creationId xmlns:p14="http://schemas.microsoft.com/office/powerpoint/2010/main" val="3578928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9E8CF-EACA-495F-9842-28F4FB06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六个月完整实验预算约 262 万元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43295-167A-4BA5-BD55-ED5F16BA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6E67"/>
                </a:solidFill>
              </a:defRPr>
            </a:defPPr>
            <a:lvl1pPr>
              <a:defRPr sz="1200" b="0">
                <a:solidFill>
                  <a:srgbClr val="776E67"/>
                </a:solidFill>
              </a:defRPr>
            </a:lvl1pPr>
            <a:lvl2pPr>
              <a:defRPr sz="1200" b="0">
                <a:solidFill>
                  <a:srgbClr val="776E67"/>
                </a:solidFill>
              </a:defRPr>
            </a:lvl2pPr>
            <a:lvl3pPr>
              <a:defRPr sz="1200" b="0">
                <a:solidFill>
                  <a:srgbClr val="776E67"/>
                </a:solidFill>
              </a:defRPr>
            </a:lvl3pPr>
            <a:lvl4pPr>
              <a:defRPr sz="1200" b="0">
                <a:solidFill>
                  <a:srgbClr val="776E67"/>
                </a:solidFill>
              </a:defRPr>
            </a:lvl4pPr>
            <a:lvl5pPr>
              <a:defRPr sz="1200" b="0">
                <a:solidFill>
                  <a:srgbClr val="776E67"/>
                </a:solidFill>
              </a:defRPr>
            </a:lvl5pPr>
            <a:lvl6pPr>
              <a:defRPr sz="1200" b="0">
                <a:solidFill>
                  <a:srgbClr val="776E67"/>
                </a:solidFill>
              </a:defRPr>
            </a:lvl6pPr>
            <a:lvl7pPr>
              <a:defRPr sz="1200" b="0">
                <a:solidFill>
                  <a:srgbClr val="776E67"/>
                </a:solidFill>
              </a:defRPr>
            </a:lvl7pPr>
            <a:lvl8pPr>
              <a:defRPr sz="1200" b="0">
                <a:solidFill>
                  <a:srgbClr val="776E67"/>
                </a:solidFill>
              </a:defRPr>
            </a:lvl8pPr>
            <a:lvl9pPr>
              <a:defRPr sz="120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76E67"/>
                </a:solidFill>
              </a:defRPr>
            </a:pPr>
            <a:r>
              <a:rPr sz="1200" b="0">
                <a:solidFill>
                  <a:srgbClr val="776E67"/>
                </a:solidFill>
              </a:rPr>
              <a:t>16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D48DC-969E-4CAE-97F9-DA8B06935B3E}"/>
              </a:ext>
            </a:extLst>
          </p:cNvPr>
          <p:cNvGraphicFramePr/>
          <p:nvPr/>
        </p:nvGraphicFramePr>
        <p:xfrm>
          <a:off xmlns:a="http://schemas.openxmlformats.org/drawingml/2006/main" x="685800" y="1647825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5810250"/>
                <a:gridCol w="2343150"/>
              </a:tblGrid>
              <a:tr h="6286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</a:rPr>
                        <a:t>费用项目</a:t>
                      </a:r>
                    </a:p>
                  </a:txBody>
                  <a:tcPr marL="91440" marR="91440" marT="45720" marB="45720">
                    <a:solidFill>
                      <a:srgbClr val="642D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</a:rPr>
                        <a:t>测算依据</a:t>
                      </a:r>
                    </a:p>
                  </a:txBody>
                  <a:tcPr marL="91440" marR="91440" marT="45720" marB="45720">
                    <a:solidFill>
                      <a:srgbClr val="642D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</a:rPr>
                        <a:t>金额</a:t>
                      </a:r>
                    </a:p>
                  </a:txBody>
                  <a:tcPr marL="91440" marR="91440" marT="45720" marB="45720">
                    <a:solidFill>
                      <a:srgbClr val="642D3E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302B29"/>
                          </a:solidFill>
                        </a:rPr>
                        <a:t>场地租赁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302B29"/>
                          </a:solidFill>
                        </a:rPr>
                        <a:t>2 万元 / 月 × 6 个月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302B29"/>
                          </a:solidFill>
                        </a:rPr>
                        <a:t>12 万元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302B29"/>
                          </a:solidFill>
                        </a:rPr>
                        <a:t>人员工资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302B29"/>
                          </a:solidFill>
                        </a:rPr>
                        <a:t>约 25 人 × 1.4 万元 / 月 × 6 个月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302B29"/>
                          </a:solidFill>
                        </a:rPr>
                        <a:t>210 万元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302B29"/>
                          </a:solidFill>
                        </a:rPr>
                        <a:t>市场推广与商务拓展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302B29"/>
                          </a:solidFill>
                        </a:rPr>
                        <a:t>补贴、广告、商家招募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302B29"/>
                          </a:solidFill>
                        </a:rPr>
                        <a:t>40 万元</a:t>
                      </a:r>
                    </a:p>
                  </a:txBody>
                  <a:tcPr marL="91440" marR="91440" marT="45720" marB="45720">
                    <a:solidFill>
                      <a:srgbClr val="F6F2E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302B29"/>
                          </a:solidFill>
                        </a:rPr>
                        <a:t>合计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302B29"/>
                          </a:solidFill>
                        </a:rPr>
                        <a:t>完整实验期测算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302B29"/>
                          </a:solidFill>
                        </a:rPr>
                        <a:t>262 万元</a:t>
                      </a:r>
                    </a:p>
                  </a:txBody>
                  <a:tcPr marL="91440" marR="91440" marT="45720" marB="45720">
                    <a:solidFill>
                      <a:srgbClr val="EDE6D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D3065-F22E-4681-B523-A898026B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642D3E"/>
                </a:solidFill>
              </a:defRPr>
            </a:defPPr>
            <a:lvl1pPr>
              <a:defRPr sz="2400" b="1">
                <a:solidFill>
                  <a:srgbClr val="642D3E"/>
                </a:solidFill>
              </a:defRPr>
            </a:lvl1pPr>
            <a:lvl2pPr>
              <a:defRPr sz="2400" b="1">
                <a:solidFill>
                  <a:srgbClr val="642D3E"/>
                </a:solidFill>
              </a:defRPr>
            </a:lvl2pPr>
            <a:lvl3pPr>
              <a:defRPr sz="2400" b="1">
                <a:solidFill>
                  <a:srgbClr val="642D3E"/>
                </a:solidFill>
              </a:defRPr>
            </a:lvl3pPr>
            <a:lvl4pPr>
              <a:defRPr sz="2400" b="1">
                <a:solidFill>
                  <a:srgbClr val="642D3E"/>
                </a:solidFill>
              </a:defRPr>
            </a:lvl4pPr>
            <a:lvl5pPr>
              <a:defRPr sz="2400" b="1">
                <a:solidFill>
                  <a:srgbClr val="642D3E"/>
                </a:solidFill>
              </a:defRPr>
            </a:lvl5pPr>
            <a:lvl6pPr>
              <a:defRPr sz="2400" b="1">
                <a:solidFill>
                  <a:srgbClr val="642D3E"/>
                </a:solidFill>
              </a:defRPr>
            </a:lvl6pPr>
            <a:lvl7pPr>
              <a:defRPr sz="2400" b="1">
                <a:solidFill>
                  <a:srgbClr val="642D3E"/>
                </a:solidFill>
              </a:defRPr>
            </a:lvl7pPr>
            <a:lvl8pPr>
              <a:defRPr sz="2400" b="1">
                <a:solidFill>
                  <a:srgbClr val="642D3E"/>
                </a:solidFill>
              </a:defRPr>
            </a:lvl8pPr>
            <a:lvl9pPr>
              <a:defRPr sz="24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642D3E"/>
                </a:solidFill>
              </a:defRPr>
            </a:pPr>
            <a:r>
              <a:rPr sz="2400" b="1">
                <a:solidFill>
                  <a:srgbClr val="642D3E"/>
                </a:solidFill>
              </a:rPr>
              <a:t>与本轮融资的差额：212–232 万元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B5935-0D59-4F20-9306-F03574D9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6E67"/>
                </a:solidFill>
              </a:defRPr>
            </a:defPPr>
            <a:lvl1pPr>
              <a:defRPr sz="1350" b="0">
                <a:solidFill>
                  <a:srgbClr val="776E67"/>
                </a:solidFill>
              </a:defRPr>
            </a:lvl1pPr>
            <a:lvl2pPr>
              <a:defRPr sz="1350" b="0">
                <a:solidFill>
                  <a:srgbClr val="776E67"/>
                </a:solidFill>
              </a:defRPr>
            </a:lvl2pPr>
            <a:lvl3pPr>
              <a:defRPr sz="1350" b="0">
                <a:solidFill>
                  <a:srgbClr val="776E67"/>
                </a:solidFill>
              </a:defRPr>
            </a:lvl3pPr>
            <a:lvl4pPr>
              <a:defRPr sz="1350" b="0">
                <a:solidFill>
                  <a:srgbClr val="776E67"/>
                </a:solidFill>
              </a:defRPr>
            </a:lvl4pPr>
            <a:lvl5pPr>
              <a:defRPr sz="1350" b="0">
                <a:solidFill>
                  <a:srgbClr val="776E67"/>
                </a:solidFill>
              </a:defRPr>
            </a:lvl5pPr>
            <a:lvl6pPr>
              <a:defRPr sz="1350" b="0">
                <a:solidFill>
                  <a:srgbClr val="776E67"/>
                </a:solidFill>
              </a:defRPr>
            </a:lvl6pPr>
            <a:lvl7pPr>
              <a:defRPr sz="1350" b="0">
                <a:solidFill>
                  <a:srgbClr val="776E67"/>
                </a:solidFill>
              </a:defRPr>
            </a:lvl7pPr>
            <a:lvl8pPr>
              <a:defRPr sz="1350" b="0">
                <a:solidFill>
                  <a:srgbClr val="776E67"/>
                </a:solidFill>
              </a:defRPr>
            </a:lvl8pPr>
            <a:lvl9pPr>
              <a:defRPr sz="135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E67"/>
                </a:solidFill>
              </a:defRPr>
            </a:pPr>
            <a:r>
              <a:rPr sz="1350" b="0">
                <a:solidFill>
                  <a:srgbClr val="776E67"/>
                </a:solidFill>
              </a:rPr>
              <a:t>BP 规划约 25 人团队。本轮为启动资金，完整实验期仍需补充资金</a:t>
            </a:r>
          </a:p>
        </p:txBody>
      </p:sp>
    </p:spTree>
    <p:extLst>
      <p:ext uri="{BB962C8B-B14F-4D97-AF65-F5344CB8AC3E}">
        <p14:creationId xmlns:p14="http://schemas.microsoft.com/office/powerpoint/2010/main" val="21092611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E9E4F-309A-41B9-B0C4-6D405319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验证目标与扩张路径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419FC-C9E8-4C89-978C-64D43786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6E67"/>
                </a:solidFill>
              </a:defRPr>
            </a:defPPr>
            <a:lvl1pPr>
              <a:defRPr sz="1200" b="0">
                <a:solidFill>
                  <a:srgbClr val="776E67"/>
                </a:solidFill>
              </a:defRPr>
            </a:lvl1pPr>
            <a:lvl2pPr>
              <a:defRPr sz="1200" b="0">
                <a:solidFill>
                  <a:srgbClr val="776E67"/>
                </a:solidFill>
              </a:defRPr>
            </a:lvl2pPr>
            <a:lvl3pPr>
              <a:defRPr sz="1200" b="0">
                <a:solidFill>
                  <a:srgbClr val="776E67"/>
                </a:solidFill>
              </a:defRPr>
            </a:lvl3pPr>
            <a:lvl4pPr>
              <a:defRPr sz="1200" b="0">
                <a:solidFill>
                  <a:srgbClr val="776E67"/>
                </a:solidFill>
              </a:defRPr>
            </a:lvl4pPr>
            <a:lvl5pPr>
              <a:defRPr sz="1200" b="0">
                <a:solidFill>
                  <a:srgbClr val="776E67"/>
                </a:solidFill>
              </a:defRPr>
            </a:lvl5pPr>
            <a:lvl6pPr>
              <a:defRPr sz="1200" b="0">
                <a:solidFill>
                  <a:srgbClr val="776E67"/>
                </a:solidFill>
              </a:defRPr>
            </a:lvl6pPr>
            <a:lvl7pPr>
              <a:defRPr sz="1200" b="0">
                <a:solidFill>
                  <a:srgbClr val="776E67"/>
                </a:solidFill>
              </a:defRPr>
            </a:lvl7pPr>
            <a:lvl8pPr>
              <a:defRPr sz="1200" b="0">
                <a:solidFill>
                  <a:srgbClr val="776E67"/>
                </a:solidFill>
              </a:defRPr>
            </a:lvl8pPr>
            <a:lvl9pPr>
              <a:defRPr sz="120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76E67"/>
                </a:solidFill>
              </a:defRPr>
            </a:pPr>
            <a:r>
              <a:rPr sz="1200" b="0">
                <a:solidFill>
                  <a:srgbClr val="776E67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A6817-BC37-43F1-AB57-7AA168BF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42D3E"/>
                </a:solidFill>
              </a:defRPr>
            </a:defPPr>
            <a:lvl1pPr>
              <a:defRPr sz="2250" b="1">
                <a:solidFill>
                  <a:srgbClr val="642D3E"/>
                </a:solidFill>
              </a:defRPr>
            </a:lvl1pPr>
            <a:lvl2pPr>
              <a:defRPr sz="2250" b="1">
                <a:solidFill>
                  <a:srgbClr val="642D3E"/>
                </a:solidFill>
              </a:defRPr>
            </a:lvl2pPr>
            <a:lvl3pPr>
              <a:defRPr sz="2250" b="1">
                <a:solidFill>
                  <a:srgbClr val="642D3E"/>
                </a:solidFill>
              </a:defRPr>
            </a:lvl3pPr>
            <a:lvl4pPr>
              <a:defRPr sz="2250" b="1">
                <a:solidFill>
                  <a:srgbClr val="642D3E"/>
                </a:solidFill>
              </a:defRPr>
            </a:lvl4pPr>
            <a:lvl5pPr>
              <a:defRPr sz="2250" b="1">
                <a:solidFill>
                  <a:srgbClr val="642D3E"/>
                </a:solidFill>
              </a:defRPr>
            </a:lvl5pPr>
            <a:lvl6pPr>
              <a:defRPr sz="2250" b="1">
                <a:solidFill>
                  <a:srgbClr val="642D3E"/>
                </a:solidFill>
              </a:defRPr>
            </a:lvl6pPr>
            <a:lvl7pPr>
              <a:defRPr sz="2250" b="1">
                <a:solidFill>
                  <a:srgbClr val="642D3E"/>
                </a:solidFill>
              </a:defRPr>
            </a:lvl7pPr>
            <a:lvl8pPr>
              <a:defRPr sz="2250" b="1">
                <a:solidFill>
                  <a:srgbClr val="642D3E"/>
                </a:solidFill>
              </a:defRPr>
            </a:lvl8pPr>
            <a:lvl9pPr>
              <a:defRPr sz="22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42D3E"/>
                </a:solidFill>
              </a:defRPr>
            </a:pPr>
            <a:r>
              <a:rPr sz="2250" b="1">
                <a:solidFill>
                  <a:srgbClr val="642D3E"/>
                </a:solidFill>
              </a:rPr>
              <a:t>前 3 个月：小规模验证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C951B-650C-4A6A-AEC3-74EED6F3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4857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02B29"/>
                </a:solidFill>
              </a:defRPr>
            </a:defPPr>
            <a:lvl1pPr>
              <a:defRPr sz="1950" b="0">
                <a:solidFill>
                  <a:srgbClr val="302B29"/>
                </a:solidFill>
              </a:defRPr>
            </a:lvl1pPr>
            <a:lvl2pPr>
              <a:defRPr sz="1950" b="0">
                <a:solidFill>
                  <a:srgbClr val="302B29"/>
                </a:solidFill>
              </a:defRPr>
            </a:lvl2pPr>
            <a:lvl3pPr>
              <a:defRPr sz="1950" b="0">
                <a:solidFill>
                  <a:srgbClr val="302B29"/>
                </a:solidFill>
              </a:defRPr>
            </a:lvl3pPr>
            <a:lvl4pPr>
              <a:defRPr sz="1950" b="0">
                <a:solidFill>
                  <a:srgbClr val="302B29"/>
                </a:solidFill>
              </a:defRPr>
            </a:lvl4pPr>
            <a:lvl5pPr>
              <a:defRPr sz="1950" b="0">
                <a:solidFill>
                  <a:srgbClr val="302B29"/>
                </a:solidFill>
              </a:defRPr>
            </a:lvl5pPr>
            <a:lvl6pPr>
              <a:defRPr sz="1950" b="0">
                <a:solidFill>
                  <a:srgbClr val="302B29"/>
                </a:solidFill>
              </a:defRPr>
            </a:lvl6pPr>
            <a:lvl7pPr>
              <a:defRPr sz="1950" b="0">
                <a:solidFill>
                  <a:srgbClr val="302B29"/>
                </a:solidFill>
              </a:defRPr>
            </a:lvl7pPr>
            <a:lvl8pPr>
              <a:defRPr sz="1950" b="0">
                <a:solidFill>
                  <a:srgbClr val="302B29"/>
                </a:solidFill>
              </a:defRPr>
            </a:lvl8pPr>
            <a:lvl9pPr>
              <a:defRPr sz="195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国内外招募首批独立商家</a:t>
            </a:r>
          </a:p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通过特色活动与案例内容获取咨询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4F2EC-76AA-41E8-9DA0-C0D8C85B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240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42D3E"/>
                </a:solidFill>
              </a:defRPr>
            </a:defPPr>
            <a:lvl1pPr>
              <a:defRPr sz="2250" b="1">
                <a:solidFill>
                  <a:srgbClr val="642D3E"/>
                </a:solidFill>
              </a:defRPr>
            </a:lvl1pPr>
            <a:lvl2pPr>
              <a:defRPr sz="2250" b="1">
                <a:solidFill>
                  <a:srgbClr val="642D3E"/>
                </a:solidFill>
              </a:defRPr>
            </a:lvl2pPr>
            <a:lvl3pPr>
              <a:defRPr sz="2250" b="1">
                <a:solidFill>
                  <a:srgbClr val="642D3E"/>
                </a:solidFill>
              </a:defRPr>
            </a:lvl3pPr>
            <a:lvl4pPr>
              <a:defRPr sz="2250" b="1">
                <a:solidFill>
                  <a:srgbClr val="642D3E"/>
                </a:solidFill>
              </a:defRPr>
            </a:lvl4pPr>
            <a:lvl5pPr>
              <a:defRPr sz="2250" b="1">
                <a:solidFill>
                  <a:srgbClr val="642D3E"/>
                </a:solidFill>
              </a:defRPr>
            </a:lvl5pPr>
            <a:lvl6pPr>
              <a:defRPr sz="2250" b="1">
                <a:solidFill>
                  <a:srgbClr val="642D3E"/>
                </a:solidFill>
              </a:defRPr>
            </a:lvl6pPr>
            <a:lvl7pPr>
              <a:defRPr sz="2250" b="1">
                <a:solidFill>
                  <a:srgbClr val="642D3E"/>
                </a:solidFill>
              </a:defRPr>
            </a:lvl7pPr>
            <a:lvl8pPr>
              <a:defRPr sz="2250" b="1">
                <a:solidFill>
                  <a:srgbClr val="642D3E"/>
                </a:solidFill>
              </a:defRPr>
            </a:lvl8pPr>
            <a:lvl9pPr>
              <a:defRPr sz="22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42D3E"/>
                </a:solidFill>
              </a:defRPr>
            </a:pPr>
            <a:r>
              <a:rPr sz="2250" b="1">
                <a:solidFill>
                  <a:srgbClr val="642D3E"/>
                </a:solidFill>
              </a:rPr>
              <a:t>验证后：扩大市场覆盖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B7417-5B08-490F-A502-38EA4797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95525"/>
            <a:ext cx="4857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02B29"/>
                </a:solidFill>
              </a:defRPr>
            </a:defPPr>
            <a:lvl1pPr>
              <a:defRPr sz="1950" b="0">
                <a:solidFill>
                  <a:srgbClr val="302B29"/>
                </a:solidFill>
              </a:defRPr>
            </a:lvl1pPr>
            <a:lvl2pPr>
              <a:defRPr sz="1950" b="0">
                <a:solidFill>
                  <a:srgbClr val="302B29"/>
                </a:solidFill>
              </a:defRPr>
            </a:lvl2pPr>
            <a:lvl3pPr>
              <a:defRPr sz="1950" b="0">
                <a:solidFill>
                  <a:srgbClr val="302B29"/>
                </a:solidFill>
              </a:defRPr>
            </a:lvl3pPr>
            <a:lvl4pPr>
              <a:defRPr sz="1950" b="0">
                <a:solidFill>
                  <a:srgbClr val="302B29"/>
                </a:solidFill>
              </a:defRPr>
            </a:lvl4pPr>
            <a:lvl5pPr>
              <a:defRPr sz="1950" b="0">
                <a:solidFill>
                  <a:srgbClr val="302B29"/>
                </a:solidFill>
              </a:defRPr>
            </a:lvl5pPr>
            <a:lvl6pPr>
              <a:defRPr sz="1950" b="0">
                <a:solidFill>
                  <a:srgbClr val="302B29"/>
                </a:solidFill>
              </a:defRPr>
            </a:lvl6pPr>
            <a:lvl7pPr>
              <a:defRPr sz="1950" b="0">
                <a:solidFill>
                  <a:srgbClr val="302B29"/>
                </a:solidFill>
              </a:defRPr>
            </a:lvl7pPr>
            <a:lvl8pPr>
              <a:defRPr sz="1950" b="0">
                <a:solidFill>
                  <a:srgbClr val="302B29"/>
                </a:solidFill>
              </a:defRPr>
            </a:lvl8pPr>
            <a:lvl9pPr>
              <a:defRPr sz="195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依据结果推进下一轮融资</a:t>
            </a:r>
          </a:p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复制服务规范，拓展更多目的地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1E778-B4BA-40B0-8A58-5D6ACD3C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642D3E"/>
                </a:solidFill>
              </a:defRPr>
            </a:defPPr>
            <a:lvl1pPr>
              <a:defRPr sz="2550" b="1">
                <a:solidFill>
                  <a:srgbClr val="642D3E"/>
                </a:solidFill>
              </a:defRPr>
            </a:lvl1pPr>
            <a:lvl2pPr>
              <a:defRPr sz="2550" b="1">
                <a:solidFill>
                  <a:srgbClr val="642D3E"/>
                </a:solidFill>
              </a:defRPr>
            </a:lvl2pPr>
            <a:lvl3pPr>
              <a:defRPr sz="2550" b="1">
                <a:solidFill>
                  <a:srgbClr val="642D3E"/>
                </a:solidFill>
              </a:defRPr>
            </a:lvl3pPr>
            <a:lvl4pPr>
              <a:defRPr sz="2550" b="1">
                <a:solidFill>
                  <a:srgbClr val="642D3E"/>
                </a:solidFill>
              </a:defRPr>
            </a:lvl4pPr>
            <a:lvl5pPr>
              <a:defRPr sz="2550" b="1">
                <a:solidFill>
                  <a:srgbClr val="642D3E"/>
                </a:solidFill>
              </a:defRPr>
            </a:lvl5pPr>
            <a:lvl6pPr>
              <a:defRPr sz="2550" b="1">
                <a:solidFill>
                  <a:srgbClr val="642D3E"/>
                </a:solidFill>
              </a:defRPr>
            </a:lvl6pPr>
            <a:lvl7pPr>
              <a:defRPr sz="2550" b="1">
                <a:solidFill>
                  <a:srgbClr val="642D3E"/>
                </a:solidFill>
              </a:defRPr>
            </a:lvl7pPr>
            <a:lvl8pPr>
              <a:defRPr sz="2550" b="1">
                <a:solidFill>
                  <a:srgbClr val="642D3E"/>
                </a:solidFill>
              </a:defRPr>
            </a:lvl8pPr>
            <a:lvl9pPr>
              <a:defRPr sz="25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642D3E"/>
                </a:solidFill>
              </a:defRPr>
            </a:pPr>
            <a:r>
              <a:rPr sz="2550" b="1">
                <a:solidFill>
                  <a:srgbClr val="642D3E"/>
                </a:solidFill>
              </a:rPr>
              <a:t>六个月目标（BP 规划）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32938E-B4DB-4866-8A09-CB53B40B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302B29"/>
                </a:solidFill>
              </a:defRPr>
            </a:defPPr>
            <a:lvl1pPr>
              <a:defRPr sz="2400" b="0">
                <a:solidFill>
                  <a:srgbClr val="302B29"/>
                </a:solidFill>
              </a:defRPr>
            </a:lvl1pPr>
            <a:lvl2pPr>
              <a:defRPr sz="2400" b="0">
                <a:solidFill>
                  <a:srgbClr val="302B29"/>
                </a:solidFill>
              </a:defRPr>
            </a:lvl2pPr>
            <a:lvl3pPr>
              <a:defRPr sz="2400" b="0">
                <a:solidFill>
                  <a:srgbClr val="302B29"/>
                </a:solidFill>
              </a:defRPr>
            </a:lvl3pPr>
            <a:lvl4pPr>
              <a:defRPr sz="2400" b="0">
                <a:solidFill>
                  <a:srgbClr val="302B29"/>
                </a:solidFill>
              </a:defRPr>
            </a:lvl4pPr>
            <a:lvl5pPr>
              <a:defRPr sz="2400" b="0">
                <a:solidFill>
                  <a:srgbClr val="302B29"/>
                </a:solidFill>
              </a:defRPr>
            </a:lvl5pPr>
            <a:lvl6pPr>
              <a:defRPr sz="2400" b="0">
                <a:solidFill>
                  <a:srgbClr val="302B29"/>
                </a:solidFill>
              </a:defRPr>
            </a:lvl6pPr>
            <a:lvl7pPr>
              <a:defRPr sz="2400" b="0">
                <a:solidFill>
                  <a:srgbClr val="302B29"/>
                </a:solidFill>
              </a:defRPr>
            </a:lvl7pPr>
            <a:lvl8pPr>
              <a:defRPr sz="2400" b="0">
                <a:solidFill>
                  <a:srgbClr val="302B29"/>
                </a:solidFill>
              </a:defRPr>
            </a:lvl8pPr>
            <a:lvl9pPr>
              <a:defRPr sz="240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02B29"/>
                </a:solidFill>
              </a:defRPr>
            </a:pPr>
            <a:r>
              <a:rPr sz="2400" b="0">
                <a:solidFill>
                  <a:srgbClr val="302B29"/>
                </a:solidFill>
              </a:rPr>
              <a:t>500+ 月活用户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1A881-03EE-4443-BE2F-45A4C766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6E67"/>
                </a:solidFill>
              </a:defRPr>
            </a:defPPr>
            <a:lvl1pPr>
              <a:defRPr sz="1350" b="0">
                <a:solidFill>
                  <a:srgbClr val="776E67"/>
                </a:solidFill>
              </a:defRPr>
            </a:lvl1pPr>
            <a:lvl2pPr>
              <a:defRPr sz="1350" b="0">
                <a:solidFill>
                  <a:srgbClr val="776E67"/>
                </a:solidFill>
              </a:defRPr>
            </a:lvl2pPr>
            <a:lvl3pPr>
              <a:defRPr sz="1350" b="0">
                <a:solidFill>
                  <a:srgbClr val="776E67"/>
                </a:solidFill>
              </a:defRPr>
            </a:lvl3pPr>
            <a:lvl4pPr>
              <a:defRPr sz="1350" b="0">
                <a:solidFill>
                  <a:srgbClr val="776E67"/>
                </a:solidFill>
              </a:defRPr>
            </a:lvl4pPr>
            <a:lvl5pPr>
              <a:defRPr sz="1350" b="0">
                <a:solidFill>
                  <a:srgbClr val="776E67"/>
                </a:solidFill>
              </a:defRPr>
            </a:lvl5pPr>
            <a:lvl6pPr>
              <a:defRPr sz="1350" b="0">
                <a:solidFill>
                  <a:srgbClr val="776E67"/>
                </a:solidFill>
              </a:defRPr>
            </a:lvl6pPr>
            <a:lvl7pPr>
              <a:defRPr sz="1350" b="0">
                <a:solidFill>
                  <a:srgbClr val="776E67"/>
                </a:solidFill>
              </a:defRPr>
            </a:lvl7pPr>
            <a:lvl8pPr>
              <a:defRPr sz="1350" b="0">
                <a:solidFill>
                  <a:srgbClr val="776E67"/>
                </a:solidFill>
              </a:defRPr>
            </a:lvl8pPr>
            <a:lvl9pPr>
              <a:defRPr sz="135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E67"/>
                </a:solidFill>
              </a:defRPr>
            </a:pPr>
            <a:r>
              <a:rPr sz="1350" b="0">
                <a:solidFill>
                  <a:srgbClr val="776E67"/>
                </a:solidFill>
              </a:rPr>
              <a:t>六个月目标依赖后续资金补足，尚非已达成业绩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78EFBF-B792-467D-B45E-C3B083F6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19650"/>
            <a:ext cx="342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rgbClr val="302B29"/>
                </a:solidFill>
              </a:defRPr>
            </a:defPPr>
            <a:lvl1pPr>
              <a:defRPr sz="2400">
                <a:solidFill>
                  <a:srgbClr val="302B29"/>
                </a:solidFill>
              </a:defRPr>
            </a:lvl1pPr>
            <a:lvl2pPr>
              <a:defRPr sz="2400">
                <a:solidFill>
                  <a:srgbClr val="302B29"/>
                </a:solidFill>
              </a:defRPr>
            </a:lvl2pPr>
            <a:lvl3pPr>
              <a:defRPr sz="2400">
                <a:solidFill>
                  <a:srgbClr val="302B29"/>
                </a:solidFill>
              </a:defRPr>
            </a:lvl3pPr>
            <a:lvl4pPr>
              <a:defRPr sz="2400">
                <a:solidFill>
                  <a:srgbClr val="302B29"/>
                </a:solidFill>
              </a:defRPr>
            </a:lvl4pPr>
            <a:lvl5pPr>
              <a:defRPr sz="2400">
                <a:solidFill>
                  <a:srgbClr val="302B29"/>
                </a:solidFill>
              </a:defRPr>
            </a:lvl5pPr>
            <a:lvl6pPr>
              <a:defRPr sz="2400">
                <a:solidFill>
                  <a:srgbClr val="302B29"/>
                </a:solidFill>
              </a:defRPr>
            </a:lvl6pPr>
            <a:lvl7pPr>
              <a:defRPr sz="2400">
                <a:solidFill>
                  <a:srgbClr val="302B29"/>
                </a:solidFill>
              </a:defRPr>
            </a:lvl7pPr>
            <a:lvl8pPr>
              <a:defRPr sz="2400">
                <a:solidFill>
                  <a:srgbClr val="302B29"/>
                </a:solidFill>
              </a:defRPr>
            </a:lvl8pPr>
            <a:lvl9pPr>
              <a:defRPr sz="240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400">
                <a:solidFill>
                  <a:srgbClr val="302B29"/>
                </a:solidFill>
              </a:defRPr>
            </a:pPr>
            <a:r>
              <a:rPr sz="2400">
                <a:solidFill>
                  <a:srgbClr val="302B29"/>
                </a:solidFill>
              </a:rPr>
              <a:t>2,000+ 合作供应商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6B8ED-60C9-4F42-8D00-AAF80BD3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9650"/>
            <a:ext cx="342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rgbClr val="302B29"/>
                </a:solidFill>
              </a:defRPr>
            </a:defPPr>
            <a:lvl1pPr>
              <a:defRPr sz="2400">
                <a:solidFill>
                  <a:srgbClr val="302B29"/>
                </a:solidFill>
              </a:defRPr>
            </a:lvl1pPr>
            <a:lvl2pPr>
              <a:defRPr sz="2400">
                <a:solidFill>
                  <a:srgbClr val="302B29"/>
                </a:solidFill>
              </a:defRPr>
            </a:lvl2pPr>
            <a:lvl3pPr>
              <a:defRPr sz="2400">
                <a:solidFill>
                  <a:srgbClr val="302B29"/>
                </a:solidFill>
              </a:defRPr>
            </a:lvl3pPr>
            <a:lvl4pPr>
              <a:defRPr sz="2400">
                <a:solidFill>
                  <a:srgbClr val="302B29"/>
                </a:solidFill>
              </a:defRPr>
            </a:lvl4pPr>
            <a:lvl5pPr>
              <a:defRPr sz="2400">
                <a:solidFill>
                  <a:srgbClr val="302B29"/>
                </a:solidFill>
              </a:defRPr>
            </a:lvl5pPr>
            <a:lvl6pPr>
              <a:defRPr sz="2400">
                <a:solidFill>
                  <a:srgbClr val="302B29"/>
                </a:solidFill>
              </a:defRPr>
            </a:lvl6pPr>
            <a:lvl7pPr>
              <a:defRPr sz="2400">
                <a:solidFill>
                  <a:srgbClr val="302B29"/>
                </a:solidFill>
              </a:defRPr>
            </a:lvl7pPr>
            <a:lvl8pPr>
              <a:defRPr sz="2400">
                <a:solidFill>
                  <a:srgbClr val="302B29"/>
                </a:solidFill>
              </a:defRPr>
            </a:lvl8pPr>
            <a:lvl9pPr>
              <a:defRPr sz="240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400">
                <a:solidFill>
                  <a:srgbClr val="302B29"/>
                </a:solidFill>
              </a:defRPr>
            </a:pPr>
            <a:r>
              <a:rPr sz="2400">
                <a:solidFill>
                  <a:srgbClr val="302B29"/>
                </a:solidFill>
              </a:rPr>
              <a:t>200+ 成交订单</a:t>
            </a:r>
          </a:p>
        </p:txBody>
      </p:sp>
    </p:spTree>
    <p:extLst>
      <p:ext uri="{BB962C8B-B14F-4D97-AF65-F5344CB8AC3E}">
        <p14:creationId xmlns:p14="http://schemas.microsoft.com/office/powerpoint/2010/main" val="18910735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A6DEF-1699-47AD-A84F-C8764CDE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让每一对新人自由选择自己的婚礼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78B0A9-BA99-470D-9B60-FB8CFD13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6E67"/>
                </a:solidFill>
              </a:defRPr>
            </a:defPPr>
            <a:lvl1pPr>
              <a:defRPr sz="1200" b="0">
                <a:solidFill>
                  <a:srgbClr val="776E67"/>
                </a:solidFill>
              </a:defRPr>
            </a:lvl1pPr>
            <a:lvl2pPr>
              <a:defRPr sz="1200" b="0">
                <a:solidFill>
                  <a:srgbClr val="776E67"/>
                </a:solidFill>
              </a:defRPr>
            </a:lvl2pPr>
            <a:lvl3pPr>
              <a:defRPr sz="1200" b="0">
                <a:solidFill>
                  <a:srgbClr val="776E67"/>
                </a:solidFill>
              </a:defRPr>
            </a:lvl3pPr>
            <a:lvl4pPr>
              <a:defRPr sz="1200" b="0">
                <a:solidFill>
                  <a:srgbClr val="776E67"/>
                </a:solidFill>
              </a:defRPr>
            </a:lvl4pPr>
            <a:lvl5pPr>
              <a:defRPr sz="1200" b="0">
                <a:solidFill>
                  <a:srgbClr val="776E67"/>
                </a:solidFill>
              </a:defRPr>
            </a:lvl5pPr>
            <a:lvl6pPr>
              <a:defRPr sz="1200" b="0">
                <a:solidFill>
                  <a:srgbClr val="776E67"/>
                </a:solidFill>
              </a:defRPr>
            </a:lvl6pPr>
            <a:lvl7pPr>
              <a:defRPr sz="1200" b="0">
                <a:solidFill>
                  <a:srgbClr val="776E67"/>
                </a:solidFill>
              </a:defRPr>
            </a:lvl7pPr>
            <a:lvl8pPr>
              <a:defRPr sz="1200" b="0">
                <a:solidFill>
                  <a:srgbClr val="776E67"/>
                </a:solidFill>
              </a:defRPr>
            </a:lvl8pPr>
            <a:lvl9pPr>
              <a:defRPr sz="120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76E67"/>
                </a:solidFill>
              </a:defRPr>
            </a:pPr>
            <a:r>
              <a:rPr sz="1200" b="0">
                <a:solidFill>
                  <a:srgbClr val="776E67"/>
                </a:solidFill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994BF-B713-4D7F-BCF3-9DE7A37D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童伟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655CC-0395-45EA-92F9-FCA7B9FB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104775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02B29"/>
                </a:solidFill>
              </a:defRPr>
            </a:defPPr>
            <a:lvl1pPr>
              <a:defRPr sz="2175" b="0">
                <a:solidFill>
                  <a:srgbClr val="302B29"/>
                </a:solidFill>
              </a:defRPr>
            </a:lvl1pPr>
            <a:lvl2pPr>
              <a:defRPr sz="2175" b="0">
                <a:solidFill>
                  <a:srgbClr val="302B29"/>
                </a:solidFill>
              </a:defRPr>
            </a:lvl2pPr>
            <a:lvl3pPr>
              <a:defRPr sz="2175" b="0">
                <a:solidFill>
                  <a:srgbClr val="302B29"/>
                </a:solidFill>
              </a:defRPr>
            </a:lvl3pPr>
            <a:lvl4pPr>
              <a:defRPr sz="2175" b="0">
                <a:solidFill>
                  <a:srgbClr val="302B29"/>
                </a:solidFill>
              </a:defRPr>
            </a:lvl4pPr>
            <a:lvl5pPr>
              <a:defRPr sz="2175" b="0">
                <a:solidFill>
                  <a:srgbClr val="302B29"/>
                </a:solidFill>
              </a:defRPr>
            </a:lvl5pPr>
            <a:lvl6pPr>
              <a:defRPr sz="2175" b="0">
                <a:solidFill>
                  <a:srgbClr val="302B29"/>
                </a:solidFill>
              </a:defRPr>
            </a:lvl6pPr>
            <a:lvl7pPr>
              <a:defRPr sz="2175" b="0">
                <a:solidFill>
                  <a:srgbClr val="302B29"/>
                </a:solidFill>
              </a:defRPr>
            </a:lvl7pPr>
            <a:lvl8pPr>
              <a:defRPr sz="2175" b="0">
                <a:solidFill>
                  <a:srgbClr val="302B29"/>
                </a:solidFill>
              </a:defRPr>
            </a:lvl8pPr>
            <a:lvl9pPr>
              <a:defRPr sz="2175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02B29"/>
                </a:solidFill>
              </a:defRPr>
            </a:pPr>
            <a:r>
              <a:rPr sz="2175" b="0">
                <a:solidFill>
                  <a:srgbClr val="302B29"/>
                </a:solidFill>
              </a:rPr>
              <a:t>手机  +86 15536500878</a:t>
            </a:r>
          </a:p>
          <a:p xmlns:a="http://schemas.openxmlformats.org/drawingml/2006/main">
            <a:pPr>
              <a:defRPr sz="2175" b="0">
                <a:solidFill>
                  <a:srgbClr val="302B29"/>
                </a:solidFill>
              </a:defRPr>
            </a:pPr>
            <a:r>
              <a:rPr sz="2175" b="0">
                <a:solidFill>
                  <a:srgbClr val="302B29"/>
                </a:solidFill>
              </a:rPr>
              <a:t>微信  13170018151</a:t>
            </a:r>
          </a:p>
          <a:p xmlns:a="http://schemas.openxmlformats.org/drawingml/2006/main">
            <a:pPr>
              <a:defRPr sz="2175" b="0">
                <a:solidFill>
                  <a:srgbClr val="302B29"/>
                </a:solidFill>
              </a:defRPr>
            </a:pPr>
            <a:r>
              <a:rPr sz="2175" b="0">
                <a:solidFill>
                  <a:srgbClr val="302B29"/>
                </a:solidFill>
              </a:rPr>
              <a:t>邮箱  TW15536500878@163.com</a:t>
            </a:r>
          </a:p>
          <a:p xmlns:a="http://schemas.openxmlformats.org/drawingml/2006/main">
            <a:pPr>
              <a:defRPr sz="2175" b="0">
                <a:solidFill>
                  <a:srgbClr val="302B29"/>
                </a:solidFill>
              </a:defRPr>
            </a:pPr>
            <a:r>
              <a:rPr sz="2175" b="0">
                <a:solidFill>
                  <a:srgbClr val="302B29"/>
                </a:solidFill>
              </a:rPr>
              <a:t>网站  www.europewedding.cn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30AF6-25F5-45F4-98E7-DD8CF872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6E67"/>
                </a:solidFill>
              </a:defRPr>
            </a:defPPr>
            <a:lvl1pPr>
              <a:defRPr sz="1350" b="0">
                <a:solidFill>
                  <a:srgbClr val="776E67"/>
                </a:solidFill>
              </a:defRPr>
            </a:lvl1pPr>
            <a:lvl2pPr>
              <a:defRPr sz="1350" b="0">
                <a:solidFill>
                  <a:srgbClr val="776E67"/>
                </a:solidFill>
              </a:defRPr>
            </a:lvl2pPr>
            <a:lvl3pPr>
              <a:defRPr sz="1350" b="0">
                <a:solidFill>
                  <a:srgbClr val="776E67"/>
                </a:solidFill>
              </a:defRPr>
            </a:lvl3pPr>
            <a:lvl4pPr>
              <a:defRPr sz="1350" b="0">
                <a:solidFill>
                  <a:srgbClr val="776E67"/>
                </a:solidFill>
              </a:defRPr>
            </a:lvl4pPr>
            <a:lvl5pPr>
              <a:defRPr sz="1350" b="0">
                <a:solidFill>
                  <a:srgbClr val="776E67"/>
                </a:solidFill>
              </a:defRPr>
            </a:lvl5pPr>
            <a:lvl6pPr>
              <a:defRPr sz="1350" b="0">
                <a:solidFill>
                  <a:srgbClr val="776E67"/>
                </a:solidFill>
              </a:defRPr>
            </a:lvl6pPr>
            <a:lvl7pPr>
              <a:defRPr sz="1350" b="0">
                <a:solidFill>
                  <a:srgbClr val="776E67"/>
                </a:solidFill>
              </a:defRPr>
            </a:lvl7pPr>
            <a:lvl8pPr>
              <a:defRPr sz="1350" b="0">
                <a:solidFill>
                  <a:srgbClr val="776E67"/>
                </a:solidFill>
              </a:defRPr>
            </a:lvl8pPr>
            <a:lvl9pPr>
              <a:defRPr sz="135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E67"/>
                </a:solidFill>
              </a:defRPr>
            </a:pPr>
            <a:r>
              <a:rPr sz="1350" b="0">
                <a:solidFill>
                  <a:srgbClr val="776E67"/>
                </a:solidFill>
              </a:rPr>
              <a:t>市场数据来源沿用 BP：民政部 / 新华社（2026.10），恒州诚思 / 新浪财经（2026.06）</a:t>
            </a:r>
          </a:p>
        </p:txBody>
      </p:sp>
    </p:spTree>
    <p:extLst>
      <p:ext uri="{BB962C8B-B14F-4D97-AF65-F5344CB8AC3E}">
        <p14:creationId xmlns:p14="http://schemas.microsoft.com/office/powerpoint/2010/main" val="12778366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2026-10-23T14:57:32.7180000Z</dcterms:created>
  <dcterms:modified xsi:type="dcterms:W3CDTF">2026-10-23T14:57:32.7180000Z</dcterms:modified>
</coreProperties>
</file>